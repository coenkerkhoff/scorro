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e" id="{fcb0db93-d973-fbf9-42ed-aabd160ac3ce}">
          <p14:sldIdLst>
            <p14:sldId id="256"/>
            <p14:sldId id="257"/>
            <p14:sldId id="258"/>
            <p14:sldId id="259"/>
          </p14:sldIdLst>
        </p14:section>
        <p14:section name="Het idee" id="{03982eef-a7d0-23ed-db1d-e62cf775c153}">
          <p14:sldIdLst>
            <p14:sldId id="260"/>
            <p14:sldId id="261"/>
          </p14:sldIdLst>
        </p14:section>
        <p14:section name="De klant" id="{049b9bba-d369-97a6-e9d9-439a3e15a281}">
          <p14:sldIdLst>
            <p14:sldId id="262"/>
            <p14:sldId id="263"/>
            <p14:sldId id="264"/>
            <p14:sldId id="265"/>
          </p14:sldIdLst>
        </p14:section>
        <p14:section name="De omgeving" id="{7bd628fd-7de7-3a7c-c963-413a711d0e52}">
          <p14:sldIdLst>
            <p14:sldId id="266"/>
            <p14:sldId id="267"/>
          </p14:sldIdLst>
        </p14:section>
        <p14:section name="Juridisch" id="{8abc4190-ea36-c6e8-1575-957008158d73}">
          <p14:sldIdLst>
            <p14:sldId id="268"/>
          </p14:sldIdLst>
        </p14:section>
        <p14:section name="Resultaat" id="{dbea5723-092a-06a2-6c62-173438ba2e20}">
          <p14:sldIdLst>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D6D7E"/>
                </a:solidFill>
                <a:latin typeface="+mn-lt"/>
              </a:defRPr>
            </a:pPr>
            <a:r>
              <a:rPr sz="1100" b="0" i="0" u="none" strike="noStrike">
                <a:solidFill>
                  <a:srgbClr val="5D6D7E"/>
                </a:solidFill>
                <a:latin typeface="+mn-lt"/>
              </a:rPr>
              <a:t>Score op probleem, betaalbereidheid, bereikbaarheid, herhaling (max 20)</a:t>
            </a:r>
          </a:p>
        </c:rich>
      </c:tx>
      <c:layout/>
      <c:overlay val="0"/>
    </c:title>
    <c:autoTitleDeleted val="0"/>
    <c:plotArea>
      <c:layout/>
      <c:barChart>
        <c:barDir val="bar"/>
        <c:grouping val="clustered"/>
        <c:varyColors val="0"/>
        <c:ser>
          <c:idx val="0"/>
          <c:order val="0"/>
          <c:tx>
            <c:strRef>
              <c:f>Sheet1!$B$1</c:f>
              <c:strCache>
                <c:ptCount val="1"/>
                <c:pt idx="0">
                  <c:v>Totaalscore</c:v>
                </c:pt>
              </c:strCache>
            </c:strRef>
          </c:tx>
          <c:spPr>
            <a:solidFill>
              <a:srgbClr val="B07D4F"/>
            </a:solidFill>
            <a:effectLst/>
          </c:spPr>
          <c:invertIfNegative val="0"/>
          <c:dLbls>
            <c:numFmt formatCode="#,##0" sourceLinked="0"/>
            <c:txPr>
              <a:bodyPr/>
              <a:lstStyle/>
              <a:p>
                <a:pPr>
                  <a:defRPr b="0" i="0" strike="noStrike" sz="1200" u="none">
                    <a:solidFill>
                      <a:srgbClr val="1C2833"/>
                    </a:solidFill>
                    <a:latin typeface="+mn-lt"/>
                  </a:defRPr>
                </a:pPr>
              </a:p>
            </c:txPr>
            <c:showLegendKey val="0"/>
            <c:showVal val="1"/>
            <c:showCatName val="0"/>
            <c:showSerName val="0"/>
            <c:showPercent val="0"/>
            <c:showBubbleSize val="0"/>
            <c:showLeaderLines val="0"/>
          </c:dLbls>
          <c:cat>
            <c:multiLvlStrRef>
              <c:f>Sheet1!$A$2:$A$5</c:f>
              <c:multiLvlStrCache>
                <c:ptCount val="4"/>
                <c:lvl>
                  <c:pt idx="0">
                    <c:v>Mannen 55+</c:v>
                  </c:pt>
                  <c:pt idx="1">
                    <c:v>Studenten/starters 18–25</c:v>
                  </c:pt>
                  <c:pt idx="2">
                    <c:v>Onzeker over stijl</c:v>
                  </c:pt>
                  <c:pt idx="3">
                    <c:v>Drukke mannen 25–45</c:v>
                  </c:pt>
                </c:lvl>
              </c:multiLvlStrCache>
            </c:multiLvlStrRef>
          </c:cat>
          <c:val>
            <c:numRef>
              <c:f>Sheet1!$B$2:$B$5</c:f>
              <c:numCache>
                <c:formatCode>General</c:formatCode>
                <c:ptCount val="4"/>
                <c:pt idx="0">
                  <c:v>9</c:v>
                </c:pt>
                <c:pt idx="1">
                  <c:v>11</c:v>
                </c:pt>
                <c:pt idx="2">
                  <c:v>12</c:v>
                </c:pt>
                <c:pt idx="3">
                  <c:v>17</c:v>
                </c:pt>
              </c:numCache>
            </c:numRef>
          </c:val>
        </c:ser>
        <c:dLbls>
          <c:numFmt formatCode="#,##0" sourceLinked="0"/>
          <c:txPr>
            <a:bodyPr/>
            <a:lstStyle/>
            <a:p>
              <a:pPr>
                <a:defRPr b="0" i="0" strike="noStrike" sz="1200" u="none">
                  <a:solidFill>
                    <a:srgbClr val="1C28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2833"/>
                </a:solidFill>
                <a:latin typeface="+mn-lt"/>
              </a:defRPr>
            </a:pPr>
            <a:endParaRPr lang="en-US"/>
          </a:p>
        </c:txPr>
        <c:crossAx val="2094734552"/>
        <c:crosses val="autoZero"/>
        <c:auto val="1"/>
        <c:lblAlgn val="ctr"/>
        <c:noMultiLvlLbl val="1"/>
      </c:catAx>
      <c:valAx>
        <c:axId val="2094734552"/>
        <c:scaling>
          <c:orientation val="minMax"/>
          <c:max val="2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Uitkomst</c:v>
                </c:pt>
              </c:strCache>
            </c:strRef>
          </c:tx>
          <c:spPr>
            <a:solidFill>
              <a:srgbClr val="B07D4F"/>
            </a:solidFill>
            <a:effectLst/>
          </c:spPr>
          <c:invertIfNegative val="0"/>
          <c:dLbls>
            <c:numFmt formatCode="#,##0" sourceLinked="0"/>
            <c:txPr>
              <a:bodyPr/>
              <a:lstStyle/>
              <a:p>
                <a:pPr>
                  <a:defRPr b="0" i="0" strike="noStrike" sz="1100" u="none">
                    <a:solidFill>
                      <a:srgbClr val="1C2833"/>
                    </a:solidFill>
                    <a:latin typeface="+mn-lt"/>
                  </a:defRPr>
                </a:pPr>
              </a:p>
            </c:txPr>
            <c:showLegendKey val="0"/>
            <c:showVal val="1"/>
            <c:showCatName val="0"/>
            <c:showSerName val="0"/>
            <c:showPercent val="0"/>
            <c:showBubbleSize val="0"/>
            <c:showLeaderLines val="0"/>
          </c:dLbls>
          <c:cat>
            <c:multiLvlStrRef>
              <c:f>Sheet1!$A$2:$A$6</c:f>
              <c:multiLvlStrCache>
                <c:ptCount val="5"/>
                <c:lvl>
                  <c:pt idx="0">
                    <c:v>H1 Kopen is tijdrovend</c:v>
                  </c:pt>
                  <c:pt idx="1">
                    <c:v>H2 Twijfel wat staat</c:v>
                  </c:pt>
                  <c:pt idx="2">
                    <c:v>H3 Kleding nooit gedragen</c:v>
                  </c:pt>
                  <c:pt idx="3">
                    <c:v>H4 Zou shopper inhuren</c:v>
                  </c:pt>
                  <c:pt idx="4">
                    <c:v>H5 Vertrouwen voorwaarde</c:v>
                  </c:pt>
                </c:lvl>
              </c:multiLvlStrCache>
            </c:multiLvlStrRef>
          </c:cat>
          <c:val>
            <c:numRef>
              <c:f>Sheet1!$B$2:$B$6</c:f>
              <c:numCache>
                <c:formatCode>General</c:formatCode>
                <c:ptCount val="5"/>
                <c:pt idx="0">
                  <c:v>4</c:v>
                </c:pt>
                <c:pt idx="1">
                  <c:v>3</c:v>
                </c:pt>
                <c:pt idx="2">
                  <c:v>5</c:v>
                </c:pt>
                <c:pt idx="3">
                  <c:v>7</c:v>
                </c:pt>
                <c:pt idx="4">
                  <c:v>6</c:v>
                </c:pt>
              </c:numCache>
            </c:numRef>
          </c:val>
        </c:ser>
        <c:ser>
          <c:idx val="1"/>
          <c:order val="1"/>
          <c:tx>
            <c:strRef>
              <c:f>Sheet1!$C$1</c:f>
              <c:strCache>
                <c:ptCount val="1"/>
                <c:pt idx="0">
                  <c:v>Norm (geslaagd als)</c:v>
                </c:pt>
              </c:strCache>
            </c:strRef>
          </c:tx>
          <c:spPr>
            <a:solidFill>
              <a:srgbClr val="C9D1DA"/>
            </a:solidFill>
            <a:effectLst/>
          </c:spPr>
          <c:invertIfNegative val="0"/>
          <c:dLbls>
            <c:numFmt formatCode="#,##0" sourceLinked="0"/>
            <c:txPr>
              <a:bodyPr/>
              <a:lstStyle/>
              <a:p>
                <a:pPr>
                  <a:defRPr b="0" i="0" strike="noStrike" sz="1100" u="none">
                    <a:solidFill>
                      <a:srgbClr val="1C2833"/>
                    </a:solidFill>
                    <a:latin typeface="+mn-lt"/>
                  </a:defRPr>
                </a:pPr>
              </a:p>
            </c:txPr>
            <c:showLegendKey val="0"/>
            <c:showVal val="1"/>
            <c:showCatName val="0"/>
            <c:showSerName val="0"/>
            <c:showPercent val="0"/>
            <c:showBubbleSize val="0"/>
            <c:showLeaderLines val="0"/>
          </c:dLbls>
          <c:cat>
            <c:multiLvlStrRef>
              <c:f>Sheet1!$A$2:$A$6</c:f>
              <c:multiLvlStrCache>
                <c:ptCount val="5"/>
                <c:lvl>
                  <c:pt idx="0">
                    <c:v>H1 Kopen is tijdrovend</c:v>
                  </c:pt>
                  <c:pt idx="1">
                    <c:v>H2 Twijfel wat staat</c:v>
                  </c:pt>
                  <c:pt idx="2">
                    <c:v>H3 Kleding nooit gedragen</c:v>
                  </c:pt>
                  <c:pt idx="3">
                    <c:v>H4 Zou shopper inhuren</c:v>
                  </c:pt>
                  <c:pt idx="4">
                    <c:v>H5 Vertrouwen voorwaarde</c:v>
                  </c:pt>
                </c:lvl>
              </c:multiLvlStrCache>
            </c:multiLvlStrRef>
          </c:cat>
          <c:val>
            <c:numRef>
              <c:f>Sheet1!$C$2:$C$6</c:f>
              <c:numCache>
                <c:formatCode>General</c:formatCode>
                <c:ptCount val="5"/>
                <c:pt idx="0">
                  <c:v>4</c:v>
                </c:pt>
                <c:pt idx="1">
                  <c:v>5</c:v>
                </c:pt>
                <c:pt idx="2">
                  <c:v>5</c:v>
                </c:pt>
                <c:pt idx="3">
                  <c:v>4</c:v>
                </c:pt>
                <c:pt idx="4">
                  <c:v>4</c:v>
                </c:pt>
              </c:numCache>
            </c:numRef>
          </c:val>
        </c:ser>
        <c:dLbls>
          <c:numFmt formatCode="#,##0" sourceLinked="0"/>
          <c:txPr>
            <a:bodyPr/>
            <a:lstStyle/>
            <a:p>
              <a:pPr>
                <a:defRPr b="0" i="0" strike="noStrike" sz="1100" u="none">
                  <a:solidFill>
                    <a:srgbClr val="1C28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2833"/>
                </a:solidFill>
                <a:latin typeface="+mn-lt"/>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C28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sec). Stel jezelf voor: Coen Kerkhoff, student Ondernemen. Vandaag laat ik zien hoe mijn idee Double F Personal Shopping zich in Start-Up 1 heeft ontwikkeld: van idee, via klantonderzoek en omgevingsanalyse, naar een onderbouwd Lean Canvas, pitch en actieplan. Tip: begin rustig, kijk de assessoren aan, noem de tagline 'Jouw stijl, zonder de moeite'.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Vertel je drijfveer in je eigen woorden. Gebruik het voorbeeld uit je logboek: de man die met een korte intake ging winkelen, zelf al luxe kleding had maar niet wist waar hij naar zocht, en die het heel fijn vond dat jij hem hielp. Met personal shopping doe je wat je leuk vindt én help je mensen.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 uit dat je eerst met een ander idee begon (AI-automatisering: een digitale werknemer voor mkb). Bij onderzoek bleek dat je daar veel ICT/AI-kennis voor nodig hebt. Je hebt je ideeën afgewogen op drie vragen: past het bij mijn kennis en interesse, kan ik er snel mee starten, en lost het een echt probleem op? Personal shopping scoorde op alle drie. Laat daarna zien dat je alle vier de tips uit week 1 hebt verwerkt.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overzicht van je proces (bron: tabel 1.5 in je logboek). Benoem eerlijk dat je in week 6 bent overgestapt naar een nieuw idee. Dat laat zien dat je durft bij te sturen: een assessor waardeert het als je uitlegt waarom. Daarna heb je in week 7 tien interviews gehouden en in week 8 alles samengebracht.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het proces door zoals in je pitch: korte intake bij de klant thuis, kastcheck, stijl- en kleuranalyse, daarna ga jij shoppen (niet de klant) en lever je af. Je bouwt een capsulegarderobe op: stukken die allemaal te combineren zijn. Met de stijlgids leert de klant zelf ook wat hem staat en waarom: dat maakt je anders dan een verkoper.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zijn de vijf bovenste bouwstenen van Lean Canvas #1 (opdracht). Benadruk: dit waren aannames op basis van deskresearch en je ervaring in de winkel. Daarom heb je ze daarna getoetst met interviews. Bestaande alternatieven waren: zelf online zoeken, service in winkels, zelf shoppen, of met je partner gaan winkelen.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hebt vier segmenten gescoord (1–5) op grootte probleem, betaalbereidheid, bereikbaarheid en herhaalaankopen. Drukke mannen 25–45 scoorden het hoogst (17). Binnen die doelgroep heb je gesegmenteerd op geslacht, leeftijd, inkomen, geografie, gedrag (haat winkelen) en motivatie (tijd besparen, stijl verbeteren). Let op: dit was een inschatting; de interviews moesten laten zien of het klopt.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Leg de onderzoeksopzet uit: 10 interviews, één script (bijlage 1), eerst vragen naar hoe ze nu kopen en waar ze tegenaan lopen; je idee pas aan het eind om sturing te voorkomen. Opnames met toestemming, transcripties, open en axiale codering (stappenplan van Scribbr/de les). Hypothesen: H1 4/10 (norm 4) bevestigd, H2 3/10 (norm 5) verworpen, H3 5/10 (norm 5) bevestigd, H4 7/10 (norm 4) bevestigd, H5 6/10 (norm 4) bevestigd. H2 verworpen is logisch: deze luxe-kopers weten vaak wél wat ze willen, ze missen vooral tijd en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Kerncijfers uit je axiale codering (3.4). Belangrijkste boodschap: niemand wijst een personal shopper af. 5 van de 10 is direct positief, de andere 5 onder voorwaarden of later. Mensen besteden aankopen nu al uit (aan vrienden, ouders of een verkoper), dus het gedrag bestaat al. Ergernissen: opdringerige verkopers en upselling (4/10) en wachten/rijen (5/10). Gebruik een citaat, bijv. R8: 'Het liefst minder tijd eigenlijk, want je bent toch altijd die zaterdag kwijt.'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een sterk reflectiepunt voor je CGI. Wees eerlijk: je interviewgroep (jongeren 17–21 die luxe kopen) is niet precies je eerste klant (25–45 met een drukke baan). Maar de interviews laten zien dat de behoefte groeit naarmate mensen drukker worden: 5 van de 10 zeggen dat zelf. Dat bevestigt je keuze voor drukke werkende mannen. Je volgende stap is ook die groep interviewen. Assessoren vragen hier vaak naar, dus zeg het liever zelf.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factor: ontwikkeling → gevolg voor de branche → kans/bedreiging voor Double F. Conclusie uit je logboek: er zijn kansen door een grotere en diversere doelgroep, economische groei en technologie (efficiënter werken, online stylingadvies via videobellen). Let op economische onzekerheid (personal shopper is geen eerste levensbehoefte), concurrentie van AI en privacyregels. Onderscheiden doe je met persoonlijk advies, betrouwbaarheid en duurzaamheid. Bronnen o.a. CBS (2025), Ministerie SZW (2025), ICTRecht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Meso-analyse. Hoeveel mannen een personal shopper inhuren is niet bekend, dus je rekent van onderaf met eigen aannames: 2 klanten per week × 45 weken × € 125 = € 11.250. Dat is realistisch naast je studie. Inzichten: de meeste personal shoppers richten zich op vrouwen of werken binnen één winkel; een onafhankelijke shopper voor mannen is je onderscheid. Gratis advies (winkelpersoneel, AI) is je grootste alternatief: je moet laten zien dat jouw advies geld bespaart doordat de klant geen miskopen meer doet. Duidelijke prijzen op je website zijn een kans. Bronnen: Modint, Multiscope (2024), McArthurGlen, I amsterdam, Twinkle (2014), RetailDetail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Handelsnaam: recht ontstaat door gebruik; gecontroleerd in de KVK-naamchecker (screenshot in bijlage 2). Merk: alleen het onderscheidende deel 'Double F' kan als merk; later bij BOIP in klasse 35. Rechtsvorm: eenmanszaak, want je start alleen, het is snel en goedkoop, weinig risico, en je kunt de KOR gebruiken. Zelfstandigenaftrek/startersaftrek krijg je pas bij 1.225 uur per jaar, dat haal je naast je studie waarschijnlijk niet. Reflectie op de expertpresentatie over de NV: verliep soepel, weinig feedback gekregen; je leerpunt is zelf om feedback vragen en het script van klasgenoten beter doornemen.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het verschil zien tussen Canvas #1 en #2: de bouwstenen zijn nu onderbouwd met praktijkgericht onderzoek (eigen observaties in de kledingwinkel, 10 interviews, gesprekken met je leidinggevende en collega's). Belangrijkste aanscherping: klantsegment concreter (30–55 met eigen bedrijf of drukke baan, uit ervaring in de winkel: zij besteden het meest), en de waardepropositie draait om service en persoonlijke aandacht zonder opdringerigheid. Exclusieve items vonden geïnterviewden leuk maar minder belangrijk: dat blijft een doel voor de lange termijn.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kun je je pitchvideo afspelen, of de pitch live doen (tekst staat in hoofdstuk 7 van je logboek). Opbouw: haakje (citaat respondent) → probleem → oplossing (hoe werkt het) → waarom ik → bewijs uit interviews (persoonlijke aandacht belangrijkst, maar geen opdringerige verkoper; 'iemand blindelings op pad sturen, dat zou ik niet fijn vinden') → wat ik nog moet uitzoeken: de juiste prijs, daarom eerst proefklanten → afsluiter met tagline.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actieplan is concreet en meetbaar: elke actie heeft een week en een zichtbaar resultaat. Leg uit hoe het aansluit op je onderzoek: prijzen vastleggen omdat je de juiste prijs nog moet uitzoeken; proefsessies omdat 4/10 vertrouwen eerst wil opbouwen door klein te beginnen; afspraken met winkels omdat 6/10 echtheid belangrijk vindt en het liefst bij het merk zelf koopt. Optioneel toevoegen als je ernaar gevraagd wordt: een nieuwe interviewronde met drukke werkende mannen 30–55.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Persoonlijke reflectie, vertel dit in je eigen woorden. Koppel eventueel aan je kernkwadranten uit je portfolio: doorzettingsvermogen (niet opgeven toen je eerste idee niet werkte) en zelfverzekerdheid (valkuil: te snel je eigen zin doordrijven → leerpunt: luisteren naar feedback en klanten). AI-gebruik: Claude gebruikt voor spelling/opmaak en een eerste opzet van de codering; codes en aantallen zelf gecontroleerd met de transcripties, en vermeld in het logboek.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Mogelijke vragen om voor te bereiden:
1. Waarom interviewde je jongeren van 17–21 als je eerste klant 25–45 is? (Zie slide 10: behoefte groeit met drukte; volgende stap is interviewen bij werkende mannen.)
2. Waarom werd H2 verworpen en wat betekent dat? (Luxe-kopers weten vaak wat ze willen; tijd en service zijn de echte pijnpunten.)
3. Hoe kom je aan € 125 gemiddeld en € 75–249 per dienst? (Aanname, mix van kastcheck, shopsessie en pakket; wordt getest met proefklanten.)
4. Waarom een eenmanszaak en geen bv? (Alleen, goedkoop, weinig risico, KOR; later vof/bv bij groei.)
5. Hoe win je vertrouwen? (Intake, eerlijk advies zonder upselling, klein beginnen, reviews, via bekenden.)
6. Wat is je oneerlijk voordeel echt? (Werkervaring in herenmode en connecties in winkels.)
7. Wat is je grootste concurrent? (Gratis advies: winkelpersoneel en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28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697480"/>
            <a:ext cx="8046720" cy="91440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indent="0" marL="0">
              <a:buNone/>
              <a:defRPr lang="en-US" sz="2600" b="1" dirty="0">
                <a:solidFill>
                  <a:schemeClr val="tx1"/>
                </a:solidFill>
                <a:latin typeface="Cambria" pitchFamily="34" charset="0"/>
                <a:ea typeface="Cambria" pitchFamily="34" charset="-122"/>
                <a:cs typeface="Cambria" pitchFamily="34" charset="-120"/>
              </a:defRPr>
            </a:lvl1pPr>
          </a:lstStyle>
          <a:p>
            <a:pPr indent="0" marL="0">
              <a:buNone/>
            </a:pPr>
            <a:endParaRPr lang="en-US" sz="2600" dirty="0"/>
          </a:p>
        </p:txBody>
      </p:sp>
      <p:sp>
        <p:nvSpPr>
          <p:cNvPr id="3" name="Text 0"/>
          <p:cNvSpPr/>
          <p:nvPr/>
        </p:nvSpPr>
        <p:spPr>
          <a:xfrm>
            <a:off x="457200" y="4800600"/>
            <a:ext cx="6400800" cy="228600"/>
          </a:xfrm>
          <a:prstGeom prst="rect">
            <a:avLst/>
          </a:prstGeom>
          <a:noFill/>
          <a:ln/>
        </p:spPr>
        <p:txBody>
          <a:bodyPr wrap="square" lIns="0" tIns="0" rIns="0" bIns="0" rtlCol="0" anchor="ctr"/>
          <a:lstStyle/>
          <a:p>
            <a:pPr indent="0" marL="0">
              <a:buNone/>
            </a:pPr>
            <a:r>
              <a:rPr lang="en-US" sz="900" dirty="0">
                <a:solidFill>
                  <a:schemeClr val="accent4"/>
                </a:solidFill>
              </a:rPr>
              <a:t>Double F Personal Shopping  ·  CGI Start-Up 1  ·  Coen Kerkhoff</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8-1.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Double F Personal Shopping</a:t>
            </a:r>
            <a:endParaRPr lang="en-US" sz="4000" dirty="0"/>
          </a:p>
        </p:txBody>
      </p:sp>
      <p:sp>
        <p:nvSpPr>
          <p:cNvPr id="3" name="Text 0"/>
          <p:cNvSpPr/>
          <p:nvPr>
            <p:ph idx="101" type="body" hasCustomPrompt="1"/>
          </p:nvPr>
        </p:nvSpPr>
        <p:spPr>
          <a:xfrm>
            <a:off x="548640" y="2697480"/>
            <a:ext cx="8046720" cy="914400"/>
          </a:xfrm>
          <a:prstGeom prst="rect">
            <a:avLst/>
          </a:prstGeom>
          <a:noFill/>
          <a:ln/>
        </p:spPr>
        <p:txBody>
          <a:bodyPr wrap="square" lIns="0" tIns="0" rIns="0" bIns="0" rtlCol="0" anchor="t"/>
          <a:lstStyle/>
          <a:p>
            <a:pPr algn="l" indent="0" marL="0">
              <a:buNone/>
            </a:pPr>
            <a:r>
              <a:rPr lang="en-US" sz="1800" i="1" dirty="0">
                <a:solidFill>
                  <a:schemeClr val="accent5"/>
                </a:solidFill>
              </a:rPr>
              <a:t>Jouw stijl, zonder de moeite.</a:t>
            </a:r>
            <a:endParaRPr lang="en-US" sz="1800" dirty="0"/>
          </a:p>
        </p:txBody>
      </p:sp>
      <p:sp>
        <p:nvSpPr>
          <p:cNvPr id="4" name="Text 2"/>
          <p:cNvSpPr txBox="1"/>
          <p:nvPr/>
        </p:nvSpPr>
        <p:spPr>
          <a:xfrm>
            <a:off x="548640" y="4206240"/>
            <a:ext cx="8046720" cy="320040"/>
          </a:xfrm>
          <a:prstGeom prst="rect">
            <a:avLst/>
          </a:prstGeom>
          <a:noFill/>
          <a:ln/>
        </p:spPr>
        <p:txBody>
          <a:bodyPr wrap="square" lIns="0" tIns="0" rIns="0" bIns="0" rtlCol="0" anchor="t"/>
          <a:lstStyle/>
          <a:p>
            <a:pPr indent="0" marL="0">
              <a:buNone/>
            </a:pPr>
            <a:r>
              <a:rPr lang="en-US" sz="1200" dirty="0">
                <a:solidFill>
                  <a:schemeClr val="bg1"/>
                </a:solidFill>
              </a:rPr>
              <a:t>CGI Start-Up 1  ·  Coen Kerkhoff  ·  2266882  ·  Avans Hogeschool, AD Ondernemen</a:t>
            </a:r>
            <a:endParaRPr lang="en-US" sz="1200" dirty="0"/>
          </a:p>
        </p:txBody>
      </p:sp>
      <p:sp>
        <p:nvSpPr>
          <p:cNvPr id="5" name="Shape 3"/>
          <p:cNvSpPr/>
          <p:nvPr/>
        </p:nvSpPr>
        <p:spPr>
          <a:xfrm>
            <a:off x="548640" y="54864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15061" y="715061"/>
            <a:ext cx="307238" cy="3072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Wie ben ik en wat drijft mij?</a:t>
            </a:r>
            <a:endParaRPr lang="en-US" sz="2600" dirty="0"/>
          </a:p>
        </p:txBody>
      </p:sp>
      <p:sp>
        <p:nvSpPr>
          <p:cNvPr id="3" name="Shape 1"/>
          <p:cNvSpPr/>
          <p:nvPr/>
        </p:nvSpPr>
        <p:spPr>
          <a:xfrm>
            <a:off x="457200" y="1097280"/>
            <a:ext cx="3931920" cy="3474720"/>
          </a:xfrm>
          <a:prstGeom prst="roundRect">
            <a:avLst>
              <a:gd name="adj" fmla="val 2105"/>
            </a:avLst>
          </a:prstGeom>
          <a:solidFill>
            <a:schemeClr val="bg2"/>
          </a:solidFill>
          <a:ln w="12700">
            <a:solidFill>
              <a:schemeClr val="bg2"/>
            </a:solidFill>
            <a:prstDash val="solid"/>
          </a:ln>
        </p:spPr>
      </p:sp>
      <p:sp>
        <p:nvSpPr>
          <p:cNvPr id="4" name="Shape 2"/>
          <p:cNvSpPr/>
          <p:nvPr/>
        </p:nvSpPr>
        <p:spPr>
          <a:xfrm>
            <a:off x="685800" y="132588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04672" y="1444752"/>
            <a:ext cx="219456" cy="219456"/>
          </a:xfrm>
          <a:prstGeom prst="rect">
            <a:avLst/>
          </a:prstGeom>
        </p:spPr>
      </p:pic>
      <p:sp>
        <p:nvSpPr>
          <p:cNvPr id="6" name="Text 3"/>
          <p:cNvSpPr txBox="1"/>
          <p:nvPr/>
        </p:nvSpPr>
        <p:spPr>
          <a:xfrm>
            <a:off x="1280160" y="1371600"/>
            <a:ext cx="2926080" cy="365760"/>
          </a:xfrm>
          <a:prstGeom prst="rect">
            <a:avLst/>
          </a:prstGeom>
          <a:noFill/>
          <a:ln/>
        </p:spPr>
        <p:txBody>
          <a:bodyPr wrap="square" lIns="0" tIns="0" rIns="0" bIns="0" rtlCol="0" anchor="t"/>
          <a:lstStyle/>
          <a:p>
            <a:pPr indent="0" marL="0">
              <a:buNone/>
            </a:pPr>
            <a:r>
              <a:rPr lang="en-US" sz="1600" b="1" dirty="0">
                <a:solidFill>
                  <a:schemeClr val="tx1"/>
                </a:solidFill>
              </a:rPr>
              <a:t>Ondernemer worden</a:t>
            </a:r>
            <a:endParaRPr lang="en-US" sz="1600" dirty="0"/>
          </a:p>
        </p:txBody>
      </p:sp>
      <p:sp>
        <p:nvSpPr>
          <p:cNvPr id="7" name="Text 4"/>
          <p:cNvSpPr txBox="1"/>
          <p:nvPr/>
        </p:nvSpPr>
        <p:spPr>
          <a:xfrm>
            <a:off x="685800" y="1965960"/>
            <a:ext cx="35204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Zelf iets opbouwen in plaats van voor een ander werken</a:t>
            </a:r>
            <a:endParaRPr lang="en-US" sz="1400" dirty="0"/>
          </a:p>
          <a:p>
            <a:pPr marL="342900" indent="-342900">
              <a:spcAft>
                <a:spcPts val="800"/>
              </a:spcAft>
              <a:buSzPct val="100000"/>
              <a:buChar char="•"/>
            </a:pPr>
            <a:r>
              <a:rPr lang="en-US" sz="1400" dirty="0">
                <a:solidFill>
                  <a:schemeClr val="tx1"/>
                </a:solidFill>
              </a:rPr>
              <a:t>Zelf bepalen wát ik doe en hóé ik het doe</a:t>
            </a:r>
            <a:endParaRPr lang="en-US" sz="1400" dirty="0"/>
          </a:p>
          <a:p>
            <a:pPr marL="342900" indent="-342900">
              <a:spcAft>
                <a:spcPts val="800"/>
              </a:spcAft>
              <a:buSzPct val="100000"/>
              <a:buChar char="•"/>
            </a:pPr>
            <a:r>
              <a:rPr lang="en-US" sz="1400" dirty="0">
                <a:solidFill>
                  <a:schemeClr val="tx1"/>
                </a:solidFill>
              </a:rPr>
              <a:t>Zelf verantwoordelijk zijn voor het resultaat</a:t>
            </a:r>
            <a:endParaRPr lang="en-US" sz="1400" dirty="0"/>
          </a:p>
        </p:txBody>
      </p:sp>
      <p:sp>
        <p:nvSpPr>
          <p:cNvPr id="8" name="Shape 5"/>
          <p:cNvSpPr/>
          <p:nvPr/>
        </p:nvSpPr>
        <p:spPr>
          <a:xfrm>
            <a:off x="4754880" y="1097280"/>
            <a:ext cx="3931920" cy="3474720"/>
          </a:xfrm>
          <a:prstGeom prst="roundRect">
            <a:avLst>
              <a:gd name="adj" fmla="val 2105"/>
            </a:avLst>
          </a:prstGeom>
          <a:solidFill>
            <a:schemeClr val="bg2"/>
          </a:solidFill>
          <a:ln w="12700">
            <a:solidFill>
              <a:schemeClr val="bg2"/>
            </a:solidFill>
            <a:prstDash val="solid"/>
          </a:ln>
        </p:spPr>
      </p:sp>
      <p:sp>
        <p:nvSpPr>
          <p:cNvPr id="9" name="Shape 6"/>
          <p:cNvSpPr/>
          <p:nvPr/>
        </p:nvSpPr>
        <p:spPr>
          <a:xfrm>
            <a:off x="4983480" y="132588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5102352" y="1444752"/>
            <a:ext cx="219456" cy="219456"/>
          </a:xfrm>
          <a:prstGeom prst="rect">
            <a:avLst/>
          </a:prstGeom>
        </p:spPr>
      </p:pic>
      <p:sp>
        <p:nvSpPr>
          <p:cNvPr id="11" name="Text 7"/>
          <p:cNvSpPr txBox="1"/>
          <p:nvPr/>
        </p:nvSpPr>
        <p:spPr>
          <a:xfrm>
            <a:off x="5577840" y="1371600"/>
            <a:ext cx="2926080" cy="365760"/>
          </a:xfrm>
          <a:prstGeom prst="rect">
            <a:avLst/>
          </a:prstGeom>
          <a:noFill/>
          <a:ln/>
        </p:spPr>
        <p:txBody>
          <a:bodyPr wrap="square" lIns="0" tIns="0" rIns="0" bIns="0" rtlCol="0" anchor="t"/>
          <a:lstStyle/>
          <a:p>
            <a:pPr indent="0" marL="0">
              <a:buNone/>
            </a:pPr>
            <a:r>
              <a:rPr lang="en-US" sz="1600" b="1" dirty="0">
                <a:solidFill>
                  <a:schemeClr val="tx1"/>
                </a:solidFill>
              </a:rPr>
              <a:t>Passie voor kleding</a:t>
            </a:r>
            <a:endParaRPr lang="en-US" sz="1600" dirty="0"/>
          </a:p>
        </p:txBody>
      </p:sp>
      <p:sp>
        <p:nvSpPr>
          <p:cNvPr id="12" name="Text 8"/>
          <p:cNvSpPr txBox="1"/>
          <p:nvPr/>
        </p:nvSpPr>
        <p:spPr>
          <a:xfrm>
            <a:off x="4983480" y="1965960"/>
            <a:ext cx="35204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Bijbaan in een winkel met alleen mannenkleding</a:t>
            </a:r>
            <a:endParaRPr lang="en-US" sz="1400" dirty="0"/>
          </a:p>
          <a:p>
            <a:pPr marL="342900" indent="-342900">
              <a:spcAft>
                <a:spcPts val="800"/>
              </a:spcAft>
              <a:buSzPct val="100000"/>
              <a:buChar char="•"/>
            </a:pPr>
            <a:r>
              <a:rPr lang="en-US" sz="1400" dirty="0">
                <a:solidFill>
                  <a:schemeClr val="tx1"/>
                </a:solidFill>
              </a:rPr>
              <a:t>Elke week mannen die niet weten wat ze zoeken of wat hen staat</a:t>
            </a:r>
            <a:endParaRPr lang="en-US" sz="1400" dirty="0"/>
          </a:p>
          <a:p>
            <a:pPr marL="342900" indent="-342900">
              <a:spcAft>
                <a:spcPts val="800"/>
              </a:spcAft>
              <a:buSzPct val="100000"/>
              <a:buChar char="•"/>
            </a:pPr>
            <a:r>
              <a:rPr lang="en-US" sz="1400" dirty="0">
                <a:solidFill>
                  <a:schemeClr val="tx1"/>
                </a:solidFill>
              </a:rPr>
              <a:t>Als ik help, gaan ze tevreden de deur uit: daar komt mijn idee vandaan</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Van longlist naar mijn keuze</a:t>
            </a:r>
            <a:endParaRPr lang="en-US" sz="2600" dirty="0"/>
          </a:p>
        </p:txBody>
      </p:sp>
      <p:sp>
        <p:nvSpPr>
          <p:cNvPr id="3" name="Shape 1"/>
          <p:cNvSpPr/>
          <p:nvPr/>
        </p:nvSpPr>
        <p:spPr>
          <a:xfrm>
            <a:off x="457200" y="1097280"/>
            <a:ext cx="2651760" cy="1737360"/>
          </a:xfrm>
          <a:prstGeom prst="roundRect">
            <a:avLst>
              <a:gd name="adj" fmla="val 4211"/>
            </a:avLst>
          </a:prstGeom>
          <a:solidFill>
            <a:schemeClr val="bg2"/>
          </a:solidFill>
          <a:ln w="12700">
            <a:solidFill>
              <a:schemeClr val="bg2"/>
            </a:solidFill>
            <a:prstDash val="solid"/>
          </a:ln>
        </p:spPr>
      </p:sp>
      <p:sp>
        <p:nvSpPr>
          <p:cNvPr id="4" name="Shape 2"/>
          <p:cNvSpPr/>
          <p:nvPr/>
        </p:nvSpPr>
        <p:spPr>
          <a:xfrm>
            <a:off x="640080" y="1280160"/>
            <a:ext cx="411480" cy="411480"/>
          </a:xfrm>
          <a:prstGeom prst="ellipse">
            <a:avLst/>
          </a:prstGeom>
          <a:solidFill>
            <a:schemeClr val="accent3"/>
          </a:solidFill>
          <a:ln w="12700">
            <a:solidFill>
              <a:schemeClr val="accent3"/>
            </a:solidFill>
            <a:prstDash val="solid"/>
          </a:ln>
        </p:spPr>
      </p:sp>
      <p:pic>
        <p:nvPicPr>
          <p:cNvPr id="5" name="Image 0" descr="preencoded.png">    </p:cNvPr>
          <p:cNvPicPr>
            <a:picLocks noChangeAspect="1"/>
          </p:cNvPicPr>
          <p:nvPr/>
        </p:nvPicPr>
        <p:blipFill>
          <a:blip r:embed="rId1"/>
          <a:stretch>
            <a:fillRect/>
          </a:stretch>
        </p:blipFill>
        <p:spPr>
          <a:xfrm>
            <a:off x="747065" y="1387145"/>
            <a:ext cx="197510" cy="197510"/>
          </a:xfrm>
          <a:prstGeom prst="rect">
            <a:avLst/>
          </a:prstGeom>
        </p:spPr>
      </p:pic>
      <p:sp>
        <p:nvSpPr>
          <p:cNvPr id="6" name="Text 3"/>
          <p:cNvSpPr txBox="1"/>
          <p:nvPr/>
        </p:nvSpPr>
        <p:spPr>
          <a:xfrm>
            <a:off x="1188720" y="1325880"/>
            <a:ext cx="1828800" cy="365760"/>
          </a:xfrm>
          <a:prstGeom prst="rect">
            <a:avLst/>
          </a:prstGeom>
          <a:noFill/>
          <a:ln/>
        </p:spPr>
        <p:txBody>
          <a:bodyPr wrap="square" lIns="0" tIns="0" rIns="0" bIns="0" rtlCol="0" anchor="t"/>
          <a:lstStyle/>
          <a:p>
            <a:pPr indent="0" marL="0">
              <a:buNone/>
            </a:pPr>
            <a:r>
              <a:rPr lang="en-US" sz="1400" b="1" dirty="0">
                <a:solidFill>
                  <a:schemeClr val="tx1"/>
                </a:solidFill>
              </a:rPr>
              <a:t>AI-automatisering</a:t>
            </a:r>
            <a:endParaRPr lang="en-US" sz="1400" dirty="0"/>
          </a:p>
        </p:txBody>
      </p:sp>
      <p:sp>
        <p:nvSpPr>
          <p:cNvPr id="7" name="Text 4"/>
          <p:cNvSpPr txBox="1"/>
          <p:nvPr/>
        </p:nvSpPr>
        <p:spPr>
          <a:xfrm>
            <a:off x="640080" y="1828800"/>
            <a:ext cx="2331720" cy="914400"/>
          </a:xfrm>
          <a:prstGeom prst="rect">
            <a:avLst/>
          </a:prstGeom>
          <a:noFill/>
          <a:ln/>
        </p:spPr>
        <p:txBody>
          <a:bodyPr wrap="square" lIns="0" tIns="0" rIns="0" bIns="0" rtlCol="0" anchor="t"/>
          <a:lstStyle/>
          <a:p>
            <a:pPr indent="0" marL="0">
              <a:buNone/>
            </a:pPr>
            <a:r>
              <a:rPr lang="en-US" sz="1300" dirty="0">
                <a:solidFill>
                  <a:schemeClr val="tx1"/>
                </a:solidFill>
              </a:rPr>
              <a:t>Niet gekozen: vraagt veel ICT- en AI-kennis, en daar ligt mijn interesse niet.</a:t>
            </a:r>
            <a:endParaRPr lang="en-US" sz="1300" dirty="0"/>
          </a:p>
        </p:txBody>
      </p:sp>
      <p:sp>
        <p:nvSpPr>
          <p:cNvPr id="8" name="Shape 5"/>
          <p:cNvSpPr/>
          <p:nvPr/>
        </p:nvSpPr>
        <p:spPr>
          <a:xfrm>
            <a:off x="457200" y="2971800"/>
            <a:ext cx="2651760" cy="1600200"/>
          </a:xfrm>
          <a:prstGeom prst="roundRect">
            <a:avLst>
              <a:gd name="adj" fmla="val 4571"/>
            </a:avLst>
          </a:prstGeom>
          <a:solidFill>
            <a:schemeClr val="bg2"/>
          </a:solidFill>
          <a:ln w="12700">
            <a:solidFill>
              <a:schemeClr val="bg2"/>
            </a:solidFill>
            <a:prstDash val="solid"/>
          </a:ln>
        </p:spPr>
      </p:sp>
      <p:sp>
        <p:nvSpPr>
          <p:cNvPr id="9" name="Shape 6"/>
          <p:cNvSpPr/>
          <p:nvPr/>
        </p:nvSpPr>
        <p:spPr>
          <a:xfrm>
            <a:off x="640080" y="3154680"/>
            <a:ext cx="411480" cy="41148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747065" y="3261665"/>
            <a:ext cx="197510" cy="197510"/>
          </a:xfrm>
          <a:prstGeom prst="rect">
            <a:avLst/>
          </a:prstGeom>
        </p:spPr>
      </p:pic>
      <p:sp>
        <p:nvSpPr>
          <p:cNvPr id="11" name="Text 7"/>
          <p:cNvSpPr txBox="1"/>
          <p:nvPr/>
        </p:nvSpPr>
        <p:spPr>
          <a:xfrm>
            <a:off x="1188720" y="3200400"/>
            <a:ext cx="1828800" cy="365760"/>
          </a:xfrm>
          <a:prstGeom prst="rect">
            <a:avLst/>
          </a:prstGeom>
          <a:noFill/>
          <a:ln/>
        </p:spPr>
        <p:txBody>
          <a:bodyPr wrap="square" lIns="0" tIns="0" rIns="0" bIns="0" rtlCol="0" anchor="t"/>
          <a:lstStyle/>
          <a:p>
            <a:pPr indent="0" marL="0">
              <a:buNone/>
            </a:pPr>
            <a:r>
              <a:rPr lang="en-US" sz="1400" b="1" dirty="0">
                <a:solidFill>
                  <a:schemeClr val="tx1"/>
                </a:solidFill>
              </a:rPr>
              <a:t>Personal shopping</a:t>
            </a:r>
            <a:endParaRPr lang="en-US" sz="1400" dirty="0"/>
          </a:p>
        </p:txBody>
      </p:sp>
      <p:sp>
        <p:nvSpPr>
          <p:cNvPr id="12" name="Text 8"/>
          <p:cNvSpPr txBox="1"/>
          <p:nvPr/>
        </p:nvSpPr>
        <p:spPr>
          <a:xfrm>
            <a:off x="640080" y="3703320"/>
            <a:ext cx="2331720" cy="822960"/>
          </a:xfrm>
          <a:prstGeom prst="rect">
            <a:avLst/>
          </a:prstGeom>
          <a:noFill/>
          <a:ln/>
        </p:spPr>
        <p:txBody>
          <a:bodyPr wrap="square" lIns="0" tIns="0" rIns="0" bIns="0" rtlCol="0" anchor="t"/>
          <a:lstStyle/>
          <a:p>
            <a:pPr indent="0" marL="0">
              <a:buNone/>
            </a:pPr>
            <a:r>
              <a:rPr lang="en-US" sz="1300" dirty="0">
                <a:solidFill>
                  <a:schemeClr val="tx1"/>
                </a:solidFill>
              </a:rPr>
              <a:t>Gekozen: past bij mijn passie, mijn werkervaring en kan snel starten.</a:t>
            </a:r>
            <a:endParaRPr lang="en-US" sz="1300" dirty="0"/>
          </a:p>
        </p:txBody>
      </p:sp>
      <p:sp>
        <p:nvSpPr>
          <p:cNvPr id="13" name="Text 9"/>
          <p:cNvSpPr txBox="1"/>
          <p:nvPr/>
        </p:nvSpPr>
        <p:spPr>
          <a:xfrm>
            <a:off x="3474720" y="1097280"/>
            <a:ext cx="5212080" cy="320040"/>
          </a:xfrm>
          <a:prstGeom prst="rect">
            <a:avLst/>
          </a:prstGeom>
          <a:noFill/>
          <a:ln/>
        </p:spPr>
        <p:txBody>
          <a:bodyPr wrap="square" lIns="0" tIns="0" rIns="0" bIns="0" rtlCol="0" anchor="t"/>
          <a:lstStyle/>
          <a:p>
            <a:pPr indent="0" marL="0">
              <a:buNone/>
            </a:pPr>
            <a:r>
              <a:rPr lang="en-US" sz="1500" b="1" dirty="0">
                <a:solidFill>
                  <a:schemeClr val="tx1"/>
                </a:solidFill>
              </a:rPr>
              <a:t>Input uit week 1 (klasgenoten) en wat ik ermee deed</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474720" y="1508760"/>
          <a:ext cx="5212080" cy="914400"/>
        </p:xfrm>
        <a:graphic>
          <a:graphicData uri="http://schemas.openxmlformats.org/drawingml/2006/table">
            <a:tbl>
              <a:tblPr/>
              <a:tblGrid>
                <a:gridCol w="1828800"/>
                <a:gridCol w="3383280"/>
              </a:tblGrid>
              <a:tr h="384048">
                <a:tc>
                  <a:txBody>
                    <a:bodyPr/>
                    <a:lstStyle/>
                    <a:p>
                      <a:pPr indent="0" marL="0">
                        <a:buNone/>
                      </a:pPr>
                      <a:r>
                        <a:rPr lang="en-US" sz="1200" b="1" dirty="0">
                          <a:solidFill>
                            <a:schemeClr val="bg1"/>
                          </a:solidFill>
                        </a:rPr>
                        <a:t>Input</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Zo verwerkt</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r>
              <a:tr h="384048">
                <a:tc>
                  <a:txBody>
                    <a:bodyPr/>
                    <a:lstStyle/>
                    <a:p>
                      <a:pPr indent="0" marL="0">
                        <a:buNone/>
                      </a:pPr>
                      <a:r>
                        <a:rPr lang="en-US" sz="1200" dirty="0">
                          <a:solidFill>
                            <a:schemeClr val="tx1"/>
                          </a:solidFill>
                        </a:rPr>
                        <a:t>Kies één niche</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Alleen mannen: daar heb ik ervaring mee</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Bouw connecties op</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Contacten in winkels = mijn oneerlijk voordeel</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Ken de markt en prijzen</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Concurrentiescan, daarop baseer ik mijn prijzen</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Zorg voor vertrouwen</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Eerlijk advies, duidelijke prijzen, reviews</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Mijn ontwikkeling in 8 weken</a:t>
            </a:r>
            <a:endParaRPr lang="en-US" sz="2600" dirty="0"/>
          </a:p>
        </p:txBody>
      </p:sp>
      <p:sp>
        <p:nvSpPr>
          <p:cNvPr id="3" name="Shape 1"/>
          <p:cNvSpPr/>
          <p:nvPr/>
        </p:nvSpPr>
        <p:spPr>
          <a:xfrm>
            <a:off x="822960" y="2148840"/>
            <a:ext cx="7498080" cy="0"/>
          </a:xfrm>
          <a:prstGeom prst="line">
            <a:avLst/>
          </a:prstGeom>
          <a:noFill/>
          <a:ln w="25400">
            <a:solidFill>
              <a:schemeClr val="accent1"/>
            </a:solidFill>
            <a:prstDash val="solid"/>
          </a:ln>
        </p:spPr>
      </p:sp>
      <p:sp>
        <p:nvSpPr>
          <p:cNvPr id="4" name="Shape 2"/>
          <p:cNvSpPr/>
          <p:nvPr/>
        </p:nvSpPr>
        <p:spPr>
          <a:xfrm>
            <a:off x="667512" y="1874520"/>
            <a:ext cx="548640" cy="548640"/>
          </a:xfrm>
          <a:prstGeom prst="ellipse">
            <a:avLst/>
          </a:prstGeom>
          <a:solidFill>
            <a:schemeClr val="tx1"/>
          </a:solidFill>
          <a:ln w="25400">
            <a:solidFill>
              <a:schemeClr val="bg1"/>
            </a:solidFill>
            <a:prstDash val="solid"/>
          </a:ln>
        </p:spPr>
      </p:sp>
      <p:sp>
        <p:nvSpPr>
          <p:cNvPr id="5" name="Text 3"/>
          <p:cNvSpPr txBox="1"/>
          <p:nvPr/>
        </p:nvSpPr>
        <p:spPr>
          <a:xfrm>
            <a:off x="667512"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548640" y="1371600"/>
            <a:ext cx="786384" cy="274320"/>
          </a:xfrm>
          <a:prstGeom prst="rect">
            <a:avLst/>
          </a:prstGeom>
          <a:noFill/>
          <a:ln/>
        </p:spPr>
        <p:txBody>
          <a:bodyPr wrap="square" lIns="0" tIns="0" rIns="0" bIns="0" rtlCol="0" anchor="t"/>
          <a:lstStyle/>
          <a:p>
            <a:pPr algn="ctr" indent="0" marL="0">
              <a:buNone/>
            </a:pPr>
            <a:r>
              <a:rPr lang="en-US" sz="1100" dirty="0">
                <a:solidFill>
                  <a:schemeClr val="accent4"/>
                </a:solidFill>
              </a:rPr>
              <a:t>Week 1</a:t>
            </a:r>
            <a:endParaRPr lang="en-US" sz="1100" dirty="0"/>
          </a:p>
        </p:txBody>
      </p:sp>
      <p:sp>
        <p:nvSpPr>
          <p:cNvPr id="7" name="Text 5"/>
          <p:cNvSpPr txBox="1"/>
          <p:nvPr/>
        </p:nvSpPr>
        <p:spPr>
          <a:xfrm>
            <a:off x="493776" y="2606040"/>
            <a:ext cx="896112" cy="1005840"/>
          </a:xfrm>
          <a:prstGeom prst="rect">
            <a:avLst/>
          </a:prstGeom>
          <a:noFill/>
          <a:ln/>
        </p:spPr>
        <p:txBody>
          <a:bodyPr wrap="square" lIns="0" tIns="0" rIns="0" bIns="0" rtlCol="0" anchor="t"/>
          <a:lstStyle/>
          <a:p>
            <a:pPr algn="ctr" indent="0" marL="0">
              <a:buNone/>
            </a:pPr>
            <a:r>
              <a:rPr lang="en-US" sz="1200" dirty="0">
                <a:solidFill>
                  <a:schemeClr val="tx1"/>
                </a:solidFill>
              </a:rPr>
              <a:t>Eerste idee onderzocht</a:t>
            </a:r>
            <a:endParaRPr lang="en-US" sz="1200" dirty="0"/>
          </a:p>
        </p:txBody>
      </p:sp>
      <p:sp>
        <p:nvSpPr>
          <p:cNvPr id="8" name="Shape 6"/>
          <p:cNvSpPr/>
          <p:nvPr/>
        </p:nvSpPr>
        <p:spPr>
          <a:xfrm>
            <a:off x="1691640" y="1874520"/>
            <a:ext cx="548640" cy="548640"/>
          </a:xfrm>
          <a:prstGeom prst="ellipse">
            <a:avLst/>
          </a:prstGeom>
          <a:solidFill>
            <a:schemeClr val="tx1"/>
          </a:solidFill>
          <a:ln w="25400">
            <a:solidFill>
              <a:schemeClr val="bg1"/>
            </a:solidFill>
            <a:prstDash val="solid"/>
          </a:ln>
        </p:spPr>
      </p:sp>
      <p:sp>
        <p:nvSpPr>
          <p:cNvPr id="9" name="Text 7"/>
          <p:cNvSpPr txBox="1"/>
          <p:nvPr/>
        </p:nvSpPr>
        <p:spPr>
          <a:xfrm>
            <a:off x="169164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572768" y="1371600"/>
            <a:ext cx="786384" cy="274320"/>
          </a:xfrm>
          <a:prstGeom prst="rect">
            <a:avLst/>
          </a:prstGeom>
          <a:noFill/>
          <a:ln/>
        </p:spPr>
        <p:txBody>
          <a:bodyPr wrap="square" lIns="0" tIns="0" rIns="0" bIns="0" rtlCol="0" anchor="t"/>
          <a:lstStyle/>
          <a:p>
            <a:pPr algn="ctr" indent="0" marL="0">
              <a:buNone/>
            </a:pPr>
            <a:r>
              <a:rPr lang="en-US" sz="1100" dirty="0">
                <a:solidFill>
                  <a:schemeClr val="accent4"/>
                </a:solidFill>
              </a:rPr>
              <a:t>Week 2</a:t>
            </a:r>
            <a:endParaRPr lang="en-US" sz="1100" dirty="0"/>
          </a:p>
        </p:txBody>
      </p:sp>
      <p:sp>
        <p:nvSpPr>
          <p:cNvPr id="11" name="Text 9"/>
          <p:cNvSpPr txBox="1"/>
          <p:nvPr/>
        </p:nvSpPr>
        <p:spPr>
          <a:xfrm>
            <a:off x="1517904" y="2606040"/>
            <a:ext cx="896112" cy="1005840"/>
          </a:xfrm>
          <a:prstGeom prst="rect">
            <a:avLst/>
          </a:prstGeom>
          <a:noFill/>
          <a:ln/>
        </p:spPr>
        <p:txBody>
          <a:bodyPr wrap="square" lIns="0" tIns="0" rIns="0" bIns="0" rtlCol="0" anchor="t"/>
          <a:lstStyle/>
          <a:p>
            <a:pPr algn="ctr" indent="0" marL="0">
              <a:buNone/>
            </a:pPr>
            <a:r>
              <a:rPr lang="en-US" sz="1200" dirty="0">
                <a:solidFill>
                  <a:schemeClr val="tx1"/>
                </a:solidFill>
              </a:rPr>
              <a:t>Lean Canvas #1</a:t>
            </a:r>
            <a:endParaRPr lang="en-US" sz="1200" dirty="0"/>
          </a:p>
        </p:txBody>
      </p:sp>
      <p:sp>
        <p:nvSpPr>
          <p:cNvPr id="12" name="Shape 10"/>
          <p:cNvSpPr/>
          <p:nvPr/>
        </p:nvSpPr>
        <p:spPr>
          <a:xfrm>
            <a:off x="2715768" y="1874520"/>
            <a:ext cx="548640" cy="548640"/>
          </a:xfrm>
          <a:prstGeom prst="ellipse">
            <a:avLst/>
          </a:prstGeom>
          <a:solidFill>
            <a:schemeClr val="tx1"/>
          </a:solidFill>
          <a:ln w="25400">
            <a:solidFill>
              <a:schemeClr val="bg1"/>
            </a:solidFill>
            <a:prstDash val="solid"/>
          </a:ln>
        </p:spPr>
      </p:sp>
      <p:sp>
        <p:nvSpPr>
          <p:cNvPr id="13" name="Text 11"/>
          <p:cNvSpPr txBox="1"/>
          <p:nvPr/>
        </p:nvSpPr>
        <p:spPr>
          <a:xfrm>
            <a:off x="2715768"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2596896" y="1371600"/>
            <a:ext cx="786384" cy="274320"/>
          </a:xfrm>
          <a:prstGeom prst="rect">
            <a:avLst/>
          </a:prstGeom>
          <a:noFill/>
          <a:ln/>
        </p:spPr>
        <p:txBody>
          <a:bodyPr wrap="square" lIns="0" tIns="0" rIns="0" bIns="0" rtlCol="0" anchor="t"/>
          <a:lstStyle/>
          <a:p>
            <a:pPr algn="ctr" indent="0" marL="0">
              <a:buNone/>
            </a:pPr>
            <a:r>
              <a:rPr lang="en-US" sz="1100" dirty="0">
                <a:solidFill>
                  <a:schemeClr val="accent4"/>
                </a:solidFill>
              </a:rPr>
              <a:t>Week 3</a:t>
            </a:r>
            <a:endParaRPr lang="en-US" sz="1100" dirty="0"/>
          </a:p>
        </p:txBody>
      </p:sp>
      <p:sp>
        <p:nvSpPr>
          <p:cNvPr id="15" name="Text 13"/>
          <p:cNvSpPr txBox="1"/>
          <p:nvPr/>
        </p:nvSpPr>
        <p:spPr>
          <a:xfrm>
            <a:off x="2542032" y="2606040"/>
            <a:ext cx="896112" cy="1005840"/>
          </a:xfrm>
          <a:prstGeom prst="rect">
            <a:avLst/>
          </a:prstGeom>
          <a:noFill/>
          <a:ln/>
        </p:spPr>
        <p:txBody>
          <a:bodyPr wrap="square" lIns="0" tIns="0" rIns="0" bIns="0" rtlCol="0" anchor="t"/>
          <a:lstStyle/>
          <a:p>
            <a:pPr algn="ctr" indent="0" marL="0">
              <a:buNone/>
            </a:pPr>
            <a:r>
              <a:rPr lang="en-US" sz="1200" dirty="0">
                <a:solidFill>
                  <a:schemeClr val="tx1"/>
                </a:solidFill>
              </a:rPr>
              <a:t>Segmentatie &amp; concurrentie</a:t>
            </a:r>
            <a:endParaRPr lang="en-US" sz="1200" dirty="0"/>
          </a:p>
        </p:txBody>
      </p:sp>
      <p:sp>
        <p:nvSpPr>
          <p:cNvPr id="16" name="Shape 14"/>
          <p:cNvSpPr/>
          <p:nvPr/>
        </p:nvSpPr>
        <p:spPr>
          <a:xfrm>
            <a:off x="3739896" y="1874520"/>
            <a:ext cx="548640" cy="548640"/>
          </a:xfrm>
          <a:prstGeom prst="ellipse">
            <a:avLst/>
          </a:prstGeom>
          <a:solidFill>
            <a:schemeClr val="tx1"/>
          </a:solidFill>
          <a:ln w="25400">
            <a:solidFill>
              <a:schemeClr val="bg1"/>
            </a:solidFill>
            <a:prstDash val="solid"/>
          </a:ln>
        </p:spPr>
      </p:sp>
      <p:sp>
        <p:nvSpPr>
          <p:cNvPr id="17" name="Text 15"/>
          <p:cNvSpPr txBox="1"/>
          <p:nvPr/>
        </p:nvSpPr>
        <p:spPr>
          <a:xfrm>
            <a:off x="3739896"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3621024" y="1371600"/>
            <a:ext cx="786384" cy="274320"/>
          </a:xfrm>
          <a:prstGeom prst="rect">
            <a:avLst/>
          </a:prstGeom>
          <a:noFill/>
          <a:ln/>
        </p:spPr>
        <p:txBody>
          <a:bodyPr wrap="square" lIns="0" tIns="0" rIns="0" bIns="0" rtlCol="0" anchor="t"/>
          <a:lstStyle/>
          <a:p>
            <a:pPr algn="ctr" indent="0" marL="0">
              <a:buNone/>
            </a:pPr>
            <a:r>
              <a:rPr lang="en-US" sz="1100" dirty="0">
                <a:solidFill>
                  <a:schemeClr val="accent4"/>
                </a:solidFill>
              </a:rPr>
              <a:t>Week 4</a:t>
            </a:r>
            <a:endParaRPr lang="en-US" sz="1100" dirty="0"/>
          </a:p>
        </p:txBody>
      </p:sp>
      <p:sp>
        <p:nvSpPr>
          <p:cNvPr id="19" name="Text 17"/>
          <p:cNvSpPr txBox="1"/>
          <p:nvPr/>
        </p:nvSpPr>
        <p:spPr>
          <a:xfrm>
            <a:off x="3566160" y="2606040"/>
            <a:ext cx="896112" cy="1005840"/>
          </a:xfrm>
          <a:prstGeom prst="rect">
            <a:avLst/>
          </a:prstGeom>
          <a:noFill/>
          <a:ln/>
        </p:spPr>
        <p:txBody>
          <a:bodyPr wrap="square" lIns="0" tIns="0" rIns="0" bIns="0" rtlCol="0" anchor="t"/>
          <a:lstStyle/>
          <a:p>
            <a:pPr algn="ctr" indent="0" marL="0">
              <a:buNone/>
            </a:pPr>
            <a:r>
              <a:rPr lang="en-US" sz="1200" dirty="0">
                <a:solidFill>
                  <a:schemeClr val="tx1"/>
                </a:solidFill>
              </a:rPr>
              <a:t>DESTEP-analyse</a:t>
            </a:r>
            <a:endParaRPr lang="en-US" sz="1200" dirty="0"/>
          </a:p>
        </p:txBody>
      </p:sp>
      <p:sp>
        <p:nvSpPr>
          <p:cNvPr id="20" name="Shape 18"/>
          <p:cNvSpPr/>
          <p:nvPr/>
        </p:nvSpPr>
        <p:spPr>
          <a:xfrm>
            <a:off x="4764024" y="1874520"/>
            <a:ext cx="548640" cy="548640"/>
          </a:xfrm>
          <a:prstGeom prst="ellipse">
            <a:avLst/>
          </a:prstGeom>
          <a:solidFill>
            <a:schemeClr val="tx1"/>
          </a:solidFill>
          <a:ln w="25400">
            <a:solidFill>
              <a:schemeClr val="bg1"/>
            </a:solidFill>
            <a:prstDash val="solid"/>
          </a:ln>
        </p:spPr>
      </p:sp>
      <p:sp>
        <p:nvSpPr>
          <p:cNvPr id="21" name="Text 19"/>
          <p:cNvSpPr txBox="1"/>
          <p:nvPr/>
        </p:nvSpPr>
        <p:spPr>
          <a:xfrm>
            <a:off x="4764024"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4645152" y="1371600"/>
            <a:ext cx="786384" cy="274320"/>
          </a:xfrm>
          <a:prstGeom prst="rect">
            <a:avLst/>
          </a:prstGeom>
          <a:noFill/>
          <a:ln/>
        </p:spPr>
        <p:txBody>
          <a:bodyPr wrap="square" lIns="0" tIns="0" rIns="0" bIns="0" rtlCol="0" anchor="t"/>
          <a:lstStyle/>
          <a:p>
            <a:pPr algn="ctr" indent="0" marL="0">
              <a:buNone/>
            </a:pPr>
            <a:r>
              <a:rPr lang="en-US" sz="1100" dirty="0">
                <a:solidFill>
                  <a:schemeClr val="accent4"/>
                </a:solidFill>
              </a:rPr>
              <a:t>Week 5</a:t>
            </a:r>
            <a:endParaRPr lang="en-US" sz="1100" dirty="0"/>
          </a:p>
        </p:txBody>
      </p:sp>
      <p:sp>
        <p:nvSpPr>
          <p:cNvPr id="23" name="Text 21"/>
          <p:cNvSpPr txBox="1"/>
          <p:nvPr/>
        </p:nvSpPr>
        <p:spPr>
          <a:xfrm>
            <a:off x="4590288" y="2606040"/>
            <a:ext cx="896112" cy="1005840"/>
          </a:xfrm>
          <a:prstGeom prst="rect">
            <a:avLst/>
          </a:prstGeom>
          <a:noFill/>
          <a:ln/>
        </p:spPr>
        <p:txBody>
          <a:bodyPr wrap="square" lIns="0" tIns="0" rIns="0" bIns="0" rtlCol="0" anchor="t"/>
          <a:lstStyle/>
          <a:p>
            <a:pPr algn="ctr" indent="0" marL="0">
              <a:buNone/>
            </a:pPr>
            <a:r>
              <a:rPr lang="en-US" sz="1200" dirty="0">
                <a:solidFill>
                  <a:schemeClr val="tx1"/>
                </a:solidFill>
              </a:rPr>
              <a:t>Presentatie rechtsvorm NV</a:t>
            </a:r>
            <a:endParaRPr lang="en-US" sz="1200" dirty="0"/>
          </a:p>
        </p:txBody>
      </p:sp>
      <p:sp>
        <p:nvSpPr>
          <p:cNvPr id="24" name="Shape 22"/>
          <p:cNvSpPr/>
          <p:nvPr/>
        </p:nvSpPr>
        <p:spPr>
          <a:xfrm>
            <a:off x="5788152" y="1874520"/>
            <a:ext cx="548640" cy="548640"/>
          </a:xfrm>
          <a:prstGeom prst="ellipse">
            <a:avLst/>
          </a:prstGeom>
          <a:solidFill>
            <a:schemeClr val="accent1"/>
          </a:solidFill>
          <a:ln w="25400">
            <a:solidFill>
              <a:schemeClr val="bg1"/>
            </a:solidFill>
            <a:prstDash val="solid"/>
          </a:ln>
        </p:spPr>
      </p:sp>
      <p:sp>
        <p:nvSpPr>
          <p:cNvPr id="25" name="Text 23"/>
          <p:cNvSpPr txBox="1"/>
          <p:nvPr/>
        </p:nvSpPr>
        <p:spPr>
          <a:xfrm>
            <a:off x="5788152"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6" name="Text 24"/>
          <p:cNvSpPr txBox="1"/>
          <p:nvPr/>
        </p:nvSpPr>
        <p:spPr>
          <a:xfrm>
            <a:off x="5669280" y="1371600"/>
            <a:ext cx="786384" cy="274320"/>
          </a:xfrm>
          <a:prstGeom prst="rect">
            <a:avLst/>
          </a:prstGeom>
          <a:noFill/>
          <a:ln/>
        </p:spPr>
        <p:txBody>
          <a:bodyPr wrap="square" lIns="0" tIns="0" rIns="0" bIns="0" rtlCol="0" anchor="t"/>
          <a:lstStyle/>
          <a:p>
            <a:pPr algn="ctr" indent="0" marL="0">
              <a:buNone/>
            </a:pPr>
            <a:r>
              <a:rPr lang="en-US" sz="1100" dirty="0">
                <a:solidFill>
                  <a:schemeClr val="accent4"/>
                </a:solidFill>
              </a:rPr>
              <a:t>Week 6</a:t>
            </a:r>
            <a:endParaRPr lang="en-US" sz="1100" dirty="0"/>
          </a:p>
        </p:txBody>
      </p:sp>
      <p:sp>
        <p:nvSpPr>
          <p:cNvPr id="27" name="Text 25"/>
          <p:cNvSpPr txBox="1"/>
          <p:nvPr/>
        </p:nvSpPr>
        <p:spPr>
          <a:xfrm>
            <a:off x="5614416" y="2606040"/>
            <a:ext cx="896112" cy="1005840"/>
          </a:xfrm>
          <a:prstGeom prst="rect">
            <a:avLst/>
          </a:prstGeom>
          <a:noFill/>
          <a:ln/>
        </p:spPr>
        <p:txBody>
          <a:bodyPr wrap="square" lIns="0" tIns="0" rIns="0" bIns="0" rtlCol="0" anchor="t"/>
          <a:lstStyle/>
          <a:p>
            <a:pPr algn="ctr" indent="0" marL="0">
              <a:buNone/>
            </a:pPr>
            <a:r>
              <a:rPr lang="en-US" sz="1200" dirty="0">
                <a:solidFill>
                  <a:schemeClr val="tx1"/>
                </a:solidFill>
              </a:rPr>
              <a:t>Overstap naar nieuw idee</a:t>
            </a:r>
            <a:endParaRPr lang="en-US" sz="1200" dirty="0"/>
          </a:p>
        </p:txBody>
      </p:sp>
      <p:sp>
        <p:nvSpPr>
          <p:cNvPr id="28" name="Shape 26"/>
          <p:cNvSpPr/>
          <p:nvPr/>
        </p:nvSpPr>
        <p:spPr>
          <a:xfrm>
            <a:off x="6812280" y="1874520"/>
            <a:ext cx="548640" cy="548640"/>
          </a:xfrm>
          <a:prstGeom prst="ellipse">
            <a:avLst/>
          </a:prstGeom>
          <a:solidFill>
            <a:schemeClr val="accent1"/>
          </a:solidFill>
          <a:ln w="25400">
            <a:solidFill>
              <a:schemeClr val="bg1"/>
            </a:solidFill>
            <a:prstDash val="solid"/>
          </a:ln>
        </p:spPr>
      </p:sp>
      <p:sp>
        <p:nvSpPr>
          <p:cNvPr id="29" name="Text 27"/>
          <p:cNvSpPr txBox="1"/>
          <p:nvPr/>
        </p:nvSpPr>
        <p:spPr>
          <a:xfrm>
            <a:off x="6812280"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0" name="Text 28"/>
          <p:cNvSpPr txBox="1"/>
          <p:nvPr/>
        </p:nvSpPr>
        <p:spPr>
          <a:xfrm>
            <a:off x="6693408" y="1371600"/>
            <a:ext cx="786384" cy="274320"/>
          </a:xfrm>
          <a:prstGeom prst="rect">
            <a:avLst/>
          </a:prstGeom>
          <a:noFill/>
          <a:ln/>
        </p:spPr>
        <p:txBody>
          <a:bodyPr wrap="square" lIns="0" tIns="0" rIns="0" bIns="0" rtlCol="0" anchor="t"/>
          <a:lstStyle/>
          <a:p>
            <a:pPr algn="ctr" indent="0" marL="0">
              <a:buNone/>
            </a:pPr>
            <a:r>
              <a:rPr lang="en-US" sz="1100" dirty="0">
                <a:solidFill>
                  <a:schemeClr val="accent4"/>
                </a:solidFill>
              </a:rPr>
              <a:t>Week 7</a:t>
            </a:r>
            <a:endParaRPr lang="en-US" sz="1100" dirty="0"/>
          </a:p>
        </p:txBody>
      </p:sp>
      <p:sp>
        <p:nvSpPr>
          <p:cNvPr id="31" name="Text 29"/>
          <p:cNvSpPr txBox="1"/>
          <p:nvPr/>
        </p:nvSpPr>
        <p:spPr>
          <a:xfrm>
            <a:off x="6638544" y="2606040"/>
            <a:ext cx="896112" cy="1005840"/>
          </a:xfrm>
          <a:prstGeom prst="rect">
            <a:avLst/>
          </a:prstGeom>
          <a:noFill/>
          <a:ln/>
        </p:spPr>
        <p:txBody>
          <a:bodyPr wrap="square" lIns="0" tIns="0" rIns="0" bIns="0" rtlCol="0" anchor="t"/>
          <a:lstStyle/>
          <a:p>
            <a:pPr algn="ctr" indent="0" marL="0">
              <a:buNone/>
            </a:pPr>
            <a:r>
              <a:rPr lang="en-US" sz="1200" dirty="0">
                <a:solidFill>
                  <a:schemeClr val="tx1"/>
                </a:solidFill>
              </a:rPr>
              <a:t>10 interviews + analyse</a:t>
            </a:r>
            <a:endParaRPr lang="en-US" sz="1200" dirty="0"/>
          </a:p>
        </p:txBody>
      </p:sp>
      <p:sp>
        <p:nvSpPr>
          <p:cNvPr id="32" name="Shape 30"/>
          <p:cNvSpPr/>
          <p:nvPr/>
        </p:nvSpPr>
        <p:spPr>
          <a:xfrm>
            <a:off x="7836408" y="1874520"/>
            <a:ext cx="548640" cy="548640"/>
          </a:xfrm>
          <a:prstGeom prst="ellipse">
            <a:avLst/>
          </a:prstGeom>
          <a:solidFill>
            <a:schemeClr val="accent1"/>
          </a:solidFill>
          <a:ln w="25400">
            <a:solidFill>
              <a:schemeClr val="bg1"/>
            </a:solidFill>
            <a:prstDash val="solid"/>
          </a:ln>
        </p:spPr>
      </p:sp>
      <p:sp>
        <p:nvSpPr>
          <p:cNvPr id="33" name="Text 31"/>
          <p:cNvSpPr txBox="1"/>
          <p:nvPr/>
        </p:nvSpPr>
        <p:spPr>
          <a:xfrm>
            <a:off x="7836408" y="18745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34" name="Text 32"/>
          <p:cNvSpPr txBox="1"/>
          <p:nvPr/>
        </p:nvSpPr>
        <p:spPr>
          <a:xfrm>
            <a:off x="7717536" y="1371600"/>
            <a:ext cx="786384" cy="274320"/>
          </a:xfrm>
          <a:prstGeom prst="rect">
            <a:avLst/>
          </a:prstGeom>
          <a:noFill/>
          <a:ln/>
        </p:spPr>
        <p:txBody>
          <a:bodyPr wrap="square" lIns="0" tIns="0" rIns="0" bIns="0" rtlCol="0" anchor="t"/>
          <a:lstStyle/>
          <a:p>
            <a:pPr algn="ctr" indent="0" marL="0">
              <a:buNone/>
            </a:pPr>
            <a:r>
              <a:rPr lang="en-US" sz="1100" dirty="0">
                <a:solidFill>
                  <a:schemeClr val="accent4"/>
                </a:solidFill>
              </a:rPr>
              <a:t>Week 8</a:t>
            </a:r>
            <a:endParaRPr lang="en-US" sz="1100" dirty="0"/>
          </a:p>
        </p:txBody>
      </p:sp>
      <p:sp>
        <p:nvSpPr>
          <p:cNvPr id="35" name="Text 33"/>
          <p:cNvSpPr txBox="1"/>
          <p:nvPr/>
        </p:nvSpPr>
        <p:spPr>
          <a:xfrm>
            <a:off x="7662672" y="2606040"/>
            <a:ext cx="896112" cy="1005840"/>
          </a:xfrm>
          <a:prstGeom prst="rect">
            <a:avLst/>
          </a:prstGeom>
          <a:noFill/>
          <a:ln/>
        </p:spPr>
        <p:txBody>
          <a:bodyPr wrap="square" lIns="0" tIns="0" rIns="0" bIns="0" rtlCol="0" anchor="t"/>
          <a:lstStyle/>
          <a:p>
            <a:pPr algn="ctr" indent="0" marL="0">
              <a:buNone/>
            </a:pPr>
            <a:r>
              <a:rPr lang="en-US" sz="1200" dirty="0">
                <a:solidFill>
                  <a:schemeClr val="tx1"/>
                </a:solidFill>
              </a:rPr>
              <a:t>Lean Canvas #2, pitch, actieplan</a:t>
            </a:r>
            <a:endParaRPr lang="en-US" sz="1200" dirty="0"/>
          </a:p>
        </p:txBody>
      </p:sp>
      <p:sp>
        <p:nvSpPr>
          <p:cNvPr id="36" name="Shape 34"/>
          <p:cNvSpPr/>
          <p:nvPr/>
        </p:nvSpPr>
        <p:spPr>
          <a:xfrm>
            <a:off x="457200" y="3794760"/>
            <a:ext cx="8229600" cy="777240"/>
          </a:xfrm>
          <a:prstGeom prst="roundRect">
            <a:avLst>
              <a:gd name="adj" fmla="val 9412"/>
            </a:avLst>
          </a:prstGeom>
          <a:solidFill>
            <a:schemeClr val="accent5"/>
          </a:solidFill>
          <a:ln w="12700">
            <a:solidFill>
              <a:schemeClr val="accent5"/>
            </a:solidFill>
            <a:prstDash val="solid"/>
          </a:ln>
        </p:spPr>
      </p:sp>
      <p:sp>
        <p:nvSpPr>
          <p:cNvPr id="37" name="Text 35"/>
          <p:cNvSpPr txBox="1"/>
          <p:nvPr/>
        </p:nvSpPr>
        <p:spPr>
          <a:xfrm>
            <a:off x="685800" y="3886200"/>
            <a:ext cx="7772400" cy="594360"/>
          </a:xfrm>
          <a:prstGeom prst="rect">
            <a:avLst/>
          </a:prstGeom>
          <a:noFill/>
          <a:ln/>
        </p:spPr>
        <p:txBody>
          <a:bodyPr wrap="square" lIns="0" tIns="0" rIns="0" bIns="0" rtlCol="0" anchor="ctr"/>
          <a:lstStyle/>
          <a:p>
            <a:pPr indent="0" marL="0">
              <a:buNone/>
            </a:pPr>
            <a:r>
              <a:rPr lang="en-US" sz="1400" dirty="0">
                <a:solidFill>
                  <a:schemeClr val="tx1"/>
                </a:solidFill>
              </a:rPr>
              <a:t>Week 6 was het kantelpunt: overgestapt naar personal shopping en alle onderdelen opnieuw opgebouwd met echt klantonderzoek.</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Double F: zo werkt het</a:t>
            </a:r>
            <a:endParaRPr lang="en-US" sz="2600" dirty="0"/>
          </a:p>
        </p:txBody>
      </p:sp>
      <p:sp>
        <p:nvSpPr>
          <p:cNvPr id="3" name="Text 1"/>
          <p:cNvSpPr txBox="1"/>
          <p:nvPr/>
        </p:nvSpPr>
        <p:spPr>
          <a:xfrm>
            <a:off x="457200" y="960120"/>
            <a:ext cx="8229600" cy="365760"/>
          </a:xfrm>
          <a:prstGeom prst="rect">
            <a:avLst/>
          </a:prstGeom>
          <a:noFill/>
          <a:ln/>
        </p:spPr>
        <p:txBody>
          <a:bodyPr wrap="square" lIns="0" tIns="0" rIns="0" bIns="0" rtlCol="0" anchor="t"/>
          <a:lstStyle/>
          <a:p>
            <a:pPr indent="0" marL="0">
              <a:buNone/>
            </a:pPr>
            <a:r>
              <a:rPr lang="en-US" sz="1400" i="1" dirty="0">
                <a:solidFill>
                  <a:schemeClr val="accent4"/>
                </a:solidFill>
              </a:rPr>
              <a:t>Personal shopping en stijladvies voor mannen die weinig tijd hebben of niet weten wat ze moeten aantrekken.</a:t>
            </a:r>
            <a:endParaRPr lang="en-US" sz="1400" dirty="0"/>
          </a:p>
        </p:txBody>
      </p:sp>
      <p:sp>
        <p:nvSpPr>
          <p:cNvPr id="4" name="Shape 2"/>
          <p:cNvSpPr/>
          <p:nvPr/>
        </p:nvSpPr>
        <p:spPr>
          <a:xfrm>
            <a:off x="457200" y="1554480"/>
            <a:ext cx="1517904" cy="2926080"/>
          </a:xfrm>
          <a:prstGeom prst="roundRect">
            <a:avLst>
              <a:gd name="adj" fmla="val 4819"/>
            </a:avLst>
          </a:prstGeom>
          <a:solidFill>
            <a:schemeClr val="bg2"/>
          </a:solidFill>
          <a:ln w="12700">
            <a:solidFill>
              <a:schemeClr val="bg2"/>
            </a:solidFill>
            <a:prstDash val="solid"/>
          </a:ln>
        </p:spPr>
      </p:sp>
      <p:sp>
        <p:nvSpPr>
          <p:cNvPr id="5" name="Shape 3"/>
          <p:cNvSpPr/>
          <p:nvPr/>
        </p:nvSpPr>
        <p:spPr>
          <a:xfrm>
            <a:off x="941832" y="1737360"/>
            <a:ext cx="548640" cy="5486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1084478" y="1880006"/>
            <a:ext cx="263347" cy="263347"/>
          </a:xfrm>
          <a:prstGeom prst="rect">
            <a:avLst/>
          </a:prstGeom>
        </p:spPr>
      </p:pic>
      <p:sp>
        <p:nvSpPr>
          <p:cNvPr id="7" name="Text 4"/>
          <p:cNvSpPr txBox="1"/>
          <p:nvPr/>
        </p:nvSpPr>
        <p:spPr>
          <a:xfrm>
            <a:off x="566928" y="2423160"/>
            <a:ext cx="1298448" cy="594360"/>
          </a:xfrm>
          <a:prstGeom prst="rect">
            <a:avLst/>
          </a:prstGeom>
          <a:noFill/>
          <a:ln/>
        </p:spPr>
        <p:txBody>
          <a:bodyPr wrap="square" lIns="0" tIns="0" rIns="0" bIns="0" rtlCol="0" anchor="t"/>
          <a:lstStyle/>
          <a:p>
            <a:pPr algn="ctr" indent="0" marL="0">
              <a:buNone/>
            </a:pPr>
            <a:r>
              <a:rPr lang="en-US" sz="1400" b="1" dirty="0">
                <a:solidFill>
                  <a:schemeClr val="tx1"/>
                </a:solidFill>
              </a:rPr>
              <a:t>1. Intake</a:t>
            </a:r>
            <a:endParaRPr lang="en-US" sz="1400" dirty="0"/>
          </a:p>
        </p:txBody>
      </p:sp>
      <p:sp>
        <p:nvSpPr>
          <p:cNvPr id="8" name="Text 5"/>
          <p:cNvSpPr txBox="1"/>
          <p:nvPr/>
        </p:nvSpPr>
        <p:spPr>
          <a:xfrm>
            <a:off x="566928" y="3063240"/>
            <a:ext cx="1298448" cy="1325880"/>
          </a:xfrm>
          <a:prstGeom prst="rect">
            <a:avLst/>
          </a:prstGeom>
          <a:noFill/>
          <a:ln/>
        </p:spPr>
        <p:txBody>
          <a:bodyPr wrap="square" lIns="0" tIns="0" rIns="0" bIns="0" rtlCol="0" anchor="t"/>
          <a:lstStyle/>
          <a:p>
            <a:pPr algn="ctr" indent="0" marL="0">
              <a:buNone/>
            </a:pPr>
            <a:r>
              <a:rPr lang="en-US" sz="1200" dirty="0">
                <a:solidFill>
                  <a:schemeClr val="tx2"/>
                </a:solidFill>
              </a:rPr>
              <a:t>Bij de klant thuis: stijl, wensen en budget bespreken</a:t>
            </a:r>
            <a:endParaRPr lang="en-US" sz="1200" dirty="0"/>
          </a:p>
        </p:txBody>
      </p:sp>
      <p:sp>
        <p:nvSpPr>
          <p:cNvPr id="9" name="Shape 6"/>
          <p:cNvSpPr/>
          <p:nvPr/>
        </p:nvSpPr>
        <p:spPr>
          <a:xfrm>
            <a:off x="2139696" y="1554480"/>
            <a:ext cx="1517904" cy="2926080"/>
          </a:xfrm>
          <a:prstGeom prst="roundRect">
            <a:avLst>
              <a:gd name="adj" fmla="val 4819"/>
            </a:avLst>
          </a:prstGeom>
          <a:solidFill>
            <a:schemeClr val="bg2"/>
          </a:solidFill>
          <a:ln w="12700">
            <a:solidFill>
              <a:schemeClr val="bg2"/>
            </a:solidFill>
            <a:prstDash val="solid"/>
          </a:ln>
        </p:spPr>
      </p:sp>
      <p:sp>
        <p:nvSpPr>
          <p:cNvPr id="10" name="Shape 7"/>
          <p:cNvSpPr/>
          <p:nvPr/>
        </p:nvSpPr>
        <p:spPr>
          <a:xfrm>
            <a:off x="2624328" y="1737360"/>
            <a:ext cx="548640" cy="54864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2766974" y="1880006"/>
            <a:ext cx="263347" cy="263347"/>
          </a:xfrm>
          <a:prstGeom prst="rect">
            <a:avLst/>
          </a:prstGeom>
        </p:spPr>
      </p:pic>
      <p:sp>
        <p:nvSpPr>
          <p:cNvPr id="12" name="Text 8"/>
          <p:cNvSpPr txBox="1"/>
          <p:nvPr/>
        </p:nvSpPr>
        <p:spPr>
          <a:xfrm>
            <a:off x="2249424" y="2423160"/>
            <a:ext cx="1298448" cy="594360"/>
          </a:xfrm>
          <a:prstGeom prst="rect">
            <a:avLst/>
          </a:prstGeom>
          <a:noFill/>
          <a:ln/>
        </p:spPr>
        <p:txBody>
          <a:bodyPr wrap="square" lIns="0" tIns="0" rIns="0" bIns="0" rtlCol="0" anchor="t"/>
          <a:lstStyle/>
          <a:p>
            <a:pPr algn="ctr" indent="0" marL="0">
              <a:buNone/>
            </a:pPr>
            <a:r>
              <a:rPr lang="en-US" sz="1400" b="1" dirty="0">
                <a:solidFill>
                  <a:schemeClr val="tx1"/>
                </a:solidFill>
              </a:rPr>
              <a:t>2. Kastcheck</a:t>
            </a:r>
            <a:endParaRPr lang="en-US" sz="1400" dirty="0"/>
          </a:p>
        </p:txBody>
      </p:sp>
      <p:sp>
        <p:nvSpPr>
          <p:cNvPr id="13" name="Text 9"/>
          <p:cNvSpPr txBox="1"/>
          <p:nvPr/>
        </p:nvSpPr>
        <p:spPr>
          <a:xfrm>
            <a:off x="2249424" y="3063240"/>
            <a:ext cx="1298448" cy="1325880"/>
          </a:xfrm>
          <a:prstGeom prst="rect">
            <a:avLst/>
          </a:prstGeom>
          <a:noFill/>
          <a:ln/>
        </p:spPr>
        <p:txBody>
          <a:bodyPr wrap="square" lIns="0" tIns="0" rIns="0" bIns="0" rtlCol="0" anchor="t"/>
          <a:lstStyle/>
          <a:p>
            <a:pPr algn="ctr" indent="0" marL="0">
              <a:buNone/>
            </a:pPr>
            <a:r>
              <a:rPr lang="en-US" sz="1200" dirty="0">
                <a:solidFill>
                  <a:schemeClr val="tx2"/>
                </a:solidFill>
              </a:rPr>
              <a:t>Wat past nog, wat kan weg, wat ontbreekt er?</a:t>
            </a:r>
            <a:endParaRPr lang="en-US" sz="1200" dirty="0"/>
          </a:p>
        </p:txBody>
      </p:sp>
      <p:sp>
        <p:nvSpPr>
          <p:cNvPr id="14" name="Shape 10"/>
          <p:cNvSpPr/>
          <p:nvPr/>
        </p:nvSpPr>
        <p:spPr>
          <a:xfrm>
            <a:off x="3822192" y="1554480"/>
            <a:ext cx="1517904" cy="2926080"/>
          </a:xfrm>
          <a:prstGeom prst="roundRect">
            <a:avLst>
              <a:gd name="adj" fmla="val 4819"/>
            </a:avLst>
          </a:prstGeom>
          <a:solidFill>
            <a:schemeClr val="bg2"/>
          </a:solidFill>
          <a:ln w="12700">
            <a:solidFill>
              <a:schemeClr val="bg2"/>
            </a:solidFill>
            <a:prstDash val="solid"/>
          </a:ln>
        </p:spPr>
      </p:sp>
      <p:sp>
        <p:nvSpPr>
          <p:cNvPr id="15" name="Shape 11"/>
          <p:cNvSpPr/>
          <p:nvPr/>
        </p:nvSpPr>
        <p:spPr>
          <a:xfrm>
            <a:off x="4306824" y="1737360"/>
            <a:ext cx="548640" cy="54864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4449470" y="1880006"/>
            <a:ext cx="263347" cy="263347"/>
          </a:xfrm>
          <a:prstGeom prst="rect">
            <a:avLst/>
          </a:prstGeom>
        </p:spPr>
      </p:pic>
      <p:sp>
        <p:nvSpPr>
          <p:cNvPr id="17" name="Text 12"/>
          <p:cNvSpPr txBox="1"/>
          <p:nvPr/>
        </p:nvSpPr>
        <p:spPr>
          <a:xfrm>
            <a:off x="3931920" y="2423160"/>
            <a:ext cx="1298448" cy="594360"/>
          </a:xfrm>
          <a:prstGeom prst="rect">
            <a:avLst/>
          </a:prstGeom>
          <a:noFill/>
          <a:ln/>
        </p:spPr>
        <p:txBody>
          <a:bodyPr wrap="square" lIns="0" tIns="0" rIns="0" bIns="0" rtlCol="0" anchor="t"/>
          <a:lstStyle/>
          <a:p>
            <a:pPr algn="ctr" indent="0" marL="0">
              <a:buNone/>
            </a:pPr>
            <a:r>
              <a:rPr lang="en-US" sz="1400" b="1" dirty="0">
                <a:solidFill>
                  <a:schemeClr val="tx1"/>
                </a:solidFill>
              </a:rPr>
              <a:t>3. Stijl- &amp; kleuranalyse</a:t>
            </a:r>
            <a:endParaRPr lang="en-US" sz="1400" dirty="0"/>
          </a:p>
        </p:txBody>
      </p:sp>
      <p:sp>
        <p:nvSpPr>
          <p:cNvPr id="18" name="Text 13"/>
          <p:cNvSpPr txBox="1"/>
          <p:nvPr/>
        </p:nvSpPr>
        <p:spPr>
          <a:xfrm>
            <a:off x="3931920" y="3063240"/>
            <a:ext cx="1298448" cy="1325880"/>
          </a:xfrm>
          <a:prstGeom prst="rect">
            <a:avLst/>
          </a:prstGeom>
          <a:noFill/>
          <a:ln/>
        </p:spPr>
        <p:txBody>
          <a:bodyPr wrap="square" lIns="0" tIns="0" rIns="0" bIns="0" rtlCol="0" anchor="t"/>
          <a:lstStyle/>
          <a:p>
            <a:pPr algn="ctr" indent="0" marL="0">
              <a:buNone/>
            </a:pPr>
            <a:r>
              <a:rPr lang="en-US" sz="1200" dirty="0">
                <a:solidFill>
                  <a:schemeClr val="tx2"/>
                </a:solidFill>
              </a:rPr>
              <a:t>Welke kleuren, pasvormen en stijlen passen bij hem</a:t>
            </a:r>
            <a:endParaRPr lang="en-US" sz="1200" dirty="0"/>
          </a:p>
        </p:txBody>
      </p:sp>
      <p:sp>
        <p:nvSpPr>
          <p:cNvPr id="19" name="Shape 14"/>
          <p:cNvSpPr/>
          <p:nvPr/>
        </p:nvSpPr>
        <p:spPr>
          <a:xfrm>
            <a:off x="5504688" y="1554480"/>
            <a:ext cx="1517904" cy="2926080"/>
          </a:xfrm>
          <a:prstGeom prst="roundRect">
            <a:avLst>
              <a:gd name="adj" fmla="val 4819"/>
            </a:avLst>
          </a:prstGeom>
          <a:solidFill>
            <a:schemeClr val="bg2"/>
          </a:solidFill>
          <a:ln w="12700">
            <a:solidFill>
              <a:schemeClr val="bg2"/>
            </a:solidFill>
            <a:prstDash val="solid"/>
          </a:ln>
        </p:spPr>
      </p:sp>
      <p:sp>
        <p:nvSpPr>
          <p:cNvPr id="20" name="Shape 15"/>
          <p:cNvSpPr/>
          <p:nvPr/>
        </p:nvSpPr>
        <p:spPr>
          <a:xfrm>
            <a:off x="5989320" y="1737360"/>
            <a:ext cx="548640" cy="548640"/>
          </a:xfrm>
          <a:prstGeom prst="ellipse">
            <a:avLst/>
          </a:prstGeom>
          <a:solidFill>
            <a:schemeClr val="accent1"/>
          </a:solidFill>
          <a:ln w="12700">
            <a:solidFill>
              <a:schemeClr val="accent1"/>
            </a:solidFill>
            <a:prstDash val="solid"/>
          </a:ln>
        </p:spPr>
      </p:sp>
      <p:pic>
        <p:nvPicPr>
          <p:cNvPr id="21" name="Image 3" descr="preencoded.png">    </p:cNvPr>
          <p:cNvPicPr>
            <a:picLocks noChangeAspect="1"/>
          </p:cNvPicPr>
          <p:nvPr/>
        </p:nvPicPr>
        <p:blipFill>
          <a:blip r:embed="rId4"/>
          <a:stretch>
            <a:fillRect/>
          </a:stretch>
        </p:blipFill>
        <p:spPr>
          <a:xfrm>
            <a:off x="6131966" y="1880006"/>
            <a:ext cx="263347" cy="263347"/>
          </a:xfrm>
          <a:prstGeom prst="rect">
            <a:avLst/>
          </a:prstGeom>
        </p:spPr>
      </p:pic>
      <p:sp>
        <p:nvSpPr>
          <p:cNvPr id="22" name="Text 16"/>
          <p:cNvSpPr txBox="1"/>
          <p:nvPr/>
        </p:nvSpPr>
        <p:spPr>
          <a:xfrm>
            <a:off x="5614416" y="2423160"/>
            <a:ext cx="1298448" cy="594360"/>
          </a:xfrm>
          <a:prstGeom prst="rect">
            <a:avLst/>
          </a:prstGeom>
          <a:noFill/>
          <a:ln/>
        </p:spPr>
        <p:txBody>
          <a:bodyPr wrap="square" lIns="0" tIns="0" rIns="0" bIns="0" rtlCol="0" anchor="t"/>
          <a:lstStyle/>
          <a:p>
            <a:pPr algn="ctr" indent="0" marL="0">
              <a:buNone/>
            </a:pPr>
            <a:r>
              <a:rPr lang="en-US" sz="1400" b="1" dirty="0">
                <a:solidFill>
                  <a:schemeClr val="tx1"/>
                </a:solidFill>
              </a:rPr>
              <a:t>4. Shoppen voor de klant</a:t>
            </a:r>
            <a:endParaRPr lang="en-US" sz="1400" dirty="0"/>
          </a:p>
        </p:txBody>
      </p:sp>
      <p:sp>
        <p:nvSpPr>
          <p:cNvPr id="23" name="Text 17"/>
          <p:cNvSpPr txBox="1"/>
          <p:nvPr/>
        </p:nvSpPr>
        <p:spPr>
          <a:xfrm>
            <a:off x="5614416" y="3063240"/>
            <a:ext cx="1298448" cy="1325880"/>
          </a:xfrm>
          <a:prstGeom prst="rect">
            <a:avLst/>
          </a:prstGeom>
          <a:noFill/>
          <a:ln/>
        </p:spPr>
        <p:txBody>
          <a:bodyPr wrap="square" lIns="0" tIns="0" rIns="0" bIns="0" rtlCol="0" anchor="t"/>
          <a:lstStyle/>
          <a:p>
            <a:pPr algn="ctr" indent="0" marL="0">
              <a:buNone/>
            </a:pPr>
            <a:r>
              <a:rPr lang="en-US" sz="1200" dirty="0">
                <a:solidFill>
                  <a:schemeClr val="tx2"/>
                </a:solidFill>
              </a:rPr>
              <a:t>Ik zoek in meerdere winkels en lever het af</a:t>
            </a:r>
            <a:endParaRPr lang="en-US" sz="1200" dirty="0"/>
          </a:p>
        </p:txBody>
      </p:sp>
      <p:sp>
        <p:nvSpPr>
          <p:cNvPr id="24" name="Shape 18"/>
          <p:cNvSpPr/>
          <p:nvPr/>
        </p:nvSpPr>
        <p:spPr>
          <a:xfrm>
            <a:off x="7187184" y="1554480"/>
            <a:ext cx="1517904" cy="2926080"/>
          </a:xfrm>
          <a:prstGeom prst="roundRect">
            <a:avLst>
              <a:gd name="adj" fmla="val 4819"/>
            </a:avLst>
          </a:prstGeom>
          <a:solidFill>
            <a:schemeClr val="bg2"/>
          </a:solidFill>
          <a:ln w="12700">
            <a:solidFill>
              <a:schemeClr val="bg2"/>
            </a:solidFill>
            <a:prstDash val="solid"/>
          </a:ln>
        </p:spPr>
      </p:sp>
      <p:sp>
        <p:nvSpPr>
          <p:cNvPr id="25" name="Shape 19"/>
          <p:cNvSpPr/>
          <p:nvPr/>
        </p:nvSpPr>
        <p:spPr>
          <a:xfrm>
            <a:off x="7671816" y="1737360"/>
            <a:ext cx="548640" cy="548640"/>
          </a:xfrm>
          <a:prstGeom prst="ellipse">
            <a:avLst/>
          </a:prstGeom>
          <a:solidFill>
            <a:schemeClr val="accent1"/>
          </a:solidFill>
          <a:ln w="12700">
            <a:solidFill>
              <a:schemeClr val="accent1"/>
            </a:solidFill>
            <a:prstDash val="solid"/>
          </a:ln>
        </p:spPr>
      </p:sp>
      <p:pic>
        <p:nvPicPr>
          <p:cNvPr id="26" name="Image 4" descr="preencoded.png">    </p:cNvPr>
          <p:cNvPicPr>
            <a:picLocks noChangeAspect="1"/>
          </p:cNvPicPr>
          <p:nvPr/>
        </p:nvPicPr>
        <p:blipFill>
          <a:blip r:embed="rId5"/>
          <a:stretch>
            <a:fillRect/>
          </a:stretch>
        </p:blipFill>
        <p:spPr>
          <a:xfrm>
            <a:off x="7814462" y="1880006"/>
            <a:ext cx="263347" cy="263347"/>
          </a:xfrm>
          <a:prstGeom prst="rect">
            <a:avLst/>
          </a:prstGeom>
        </p:spPr>
      </p:pic>
      <p:sp>
        <p:nvSpPr>
          <p:cNvPr id="27" name="Text 20"/>
          <p:cNvSpPr txBox="1"/>
          <p:nvPr/>
        </p:nvSpPr>
        <p:spPr>
          <a:xfrm>
            <a:off x="7296912" y="2423160"/>
            <a:ext cx="1298448" cy="594360"/>
          </a:xfrm>
          <a:prstGeom prst="rect">
            <a:avLst/>
          </a:prstGeom>
          <a:noFill/>
          <a:ln/>
        </p:spPr>
        <p:txBody>
          <a:bodyPr wrap="square" lIns="0" tIns="0" rIns="0" bIns="0" rtlCol="0" anchor="t"/>
          <a:lstStyle/>
          <a:p>
            <a:pPr algn="ctr" indent="0" marL="0">
              <a:buNone/>
            </a:pPr>
            <a:r>
              <a:rPr lang="en-US" sz="1400" b="1" dirty="0">
                <a:solidFill>
                  <a:schemeClr val="tx1"/>
                </a:solidFill>
              </a:rPr>
              <a:t>5. Capsule + stijlgids</a:t>
            </a:r>
            <a:endParaRPr lang="en-US" sz="1400" dirty="0"/>
          </a:p>
        </p:txBody>
      </p:sp>
      <p:sp>
        <p:nvSpPr>
          <p:cNvPr id="28" name="Text 21"/>
          <p:cNvSpPr txBox="1"/>
          <p:nvPr/>
        </p:nvSpPr>
        <p:spPr>
          <a:xfrm>
            <a:off x="7296912" y="3063240"/>
            <a:ext cx="1298448" cy="1325880"/>
          </a:xfrm>
          <a:prstGeom prst="rect">
            <a:avLst/>
          </a:prstGeom>
          <a:noFill/>
          <a:ln/>
        </p:spPr>
        <p:txBody>
          <a:bodyPr wrap="square" lIns="0" tIns="0" rIns="0" bIns="0" rtlCol="0" anchor="t"/>
          <a:lstStyle/>
          <a:p>
            <a:pPr algn="ctr" indent="0" marL="0">
              <a:buNone/>
            </a:pPr>
            <a:r>
              <a:rPr lang="en-US" sz="1200" dirty="0">
                <a:solidFill>
                  <a:schemeClr val="tx2"/>
                </a:solidFill>
              </a:rPr>
              <a:t>Combineerbare basis plus uitleg wát hem staat en waarom</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Lean Canvas #1: mijn eerste aannames</a:t>
            </a:r>
            <a:endParaRPr lang="en-US" sz="2600" dirty="0"/>
          </a:p>
        </p:txBody>
      </p:sp>
      <p:sp>
        <p:nvSpPr>
          <p:cNvPr id="3" name="Shape 1"/>
          <p:cNvSpPr/>
          <p:nvPr/>
        </p:nvSpPr>
        <p:spPr>
          <a:xfrm>
            <a:off x="457200" y="1051560"/>
            <a:ext cx="1517904" cy="2880360"/>
          </a:xfrm>
          <a:prstGeom prst="roundRect">
            <a:avLst>
              <a:gd name="adj" fmla="val 4819"/>
            </a:avLst>
          </a:prstGeom>
          <a:solidFill>
            <a:schemeClr val="bg2"/>
          </a:solidFill>
          <a:ln w="12700">
            <a:solidFill>
              <a:schemeClr val="bg2"/>
            </a:solidFill>
            <a:prstDash val="solid"/>
          </a:ln>
        </p:spPr>
      </p:sp>
      <p:sp>
        <p:nvSpPr>
          <p:cNvPr id="4" name="Text 2"/>
          <p:cNvSpPr txBox="1"/>
          <p:nvPr/>
        </p:nvSpPr>
        <p:spPr>
          <a:xfrm>
            <a:off x="566928" y="1161288"/>
            <a:ext cx="1298448" cy="502920"/>
          </a:xfrm>
          <a:prstGeom prst="rect">
            <a:avLst/>
          </a:prstGeom>
          <a:noFill/>
          <a:ln/>
        </p:spPr>
        <p:txBody>
          <a:bodyPr wrap="square" lIns="0" tIns="0" rIns="0" bIns="0" rtlCol="0" anchor="t"/>
          <a:lstStyle/>
          <a:p>
            <a:pPr indent="0" marL="0">
              <a:buNone/>
            </a:pPr>
            <a:r>
              <a:rPr lang="en-US" sz="1300" b="1" dirty="0">
                <a:solidFill>
                  <a:schemeClr val="accent1"/>
                </a:solidFill>
              </a:rPr>
              <a:t>Probleem</a:t>
            </a:r>
            <a:endParaRPr lang="en-US" sz="1300" dirty="0"/>
          </a:p>
        </p:txBody>
      </p:sp>
      <p:sp>
        <p:nvSpPr>
          <p:cNvPr id="5" name="Text 3"/>
          <p:cNvSpPr txBox="1"/>
          <p:nvPr/>
        </p:nvSpPr>
        <p:spPr>
          <a:xfrm>
            <a:off x="566928" y="1691640"/>
            <a:ext cx="1335024" cy="21945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1"/>
                </a:solidFill>
              </a:rPr>
              <a:t>Tijdgebrek bij drukke mannen</a:t>
            </a:r>
            <a:endParaRPr lang="en-US" sz="1100" dirty="0"/>
          </a:p>
          <a:p>
            <a:pPr marL="342900" indent="-342900">
              <a:spcAft>
                <a:spcPts val="400"/>
              </a:spcAft>
              <a:buSzPct val="100000"/>
              <a:buChar char="•"/>
            </a:pPr>
            <a:r>
              <a:rPr lang="en-US" sz="1100" dirty="0">
                <a:solidFill>
                  <a:schemeClr val="tx1"/>
                </a:solidFill>
              </a:rPr>
              <a:t>Onzeker over stijl en lichaam</a:t>
            </a:r>
            <a:endParaRPr lang="en-US" sz="1100" dirty="0"/>
          </a:p>
          <a:p>
            <a:pPr marL="342900" indent="-342900">
              <a:spcAft>
                <a:spcPts val="400"/>
              </a:spcAft>
              <a:buSzPct val="100000"/>
              <a:buChar char="•"/>
            </a:pPr>
            <a:r>
              <a:rPr lang="en-US" sz="1100" dirty="0">
                <a:solidFill>
                  <a:schemeClr val="tx1"/>
                </a:solidFill>
              </a:rPr>
              <a:t>Volle kast, toch ‘niets om aan te trekken’</a:t>
            </a:r>
            <a:endParaRPr lang="en-US" sz="1100" dirty="0"/>
          </a:p>
        </p:txBody>
      </p:sp>
      <p:sp>
        <p:nvSpPr>
          <p:cNvPr id="6" name="Shape 4"/>
          <p:cNvSpPr/>
          <p:nvPr/>
        </p:nvSpPr>
        <p:spPr>
          <a:xfrm>
            <a:off x="2139696" y="1051560"/>
            <a:ext cx="1517904" cy="2880360"/>
          </a:xfrm>
          <a:prstGeom prst="roundRect">
            <a:avLst>
              <a:gd name="adj" fmla="val 4819"/>
            </a:avLst>
          </a:prstGeom>
          <a:solidFill>
            <a:schemeClr val="bg2"/>
          </a:solidFill>
          <a:ln w="12700">
            <a:solidFill>
              <a:schemeClr val="bg2"/>
            </a:solidFill>
            <a:prstDash val="solid"/>
          </a:ln>
        </p:spPr>
      </p:sp>
      <p:sp>
        <p:nvSpPr>
          <p:cNvPr id="7" name="Text 5"/>
          <p:cNvSpPr txBox="1"/>
          <p:nvPr/>
        </p:nvSpPr>
        <p:spPr>
          <a:xfrm>
            <a:off x="2249424" y="1161288"/>
            <a:ext cx="1298448" cy="502920"/>
          </a:xfrm>
          <a:prstGeom prst="rect">
            <a:avLst/>
          </a:prstGeom>
          <a:noFill/>
          <a:ln/>
        </p:spPr>
        <p:txBody>
          <a:bodyPr wrap="square" lIns="0" tIns="0" rIns="0" bIns="0" rtlCol="0" anchor="t"/>
          <a:lstStyle/>
          <a:p>
            <a:pPr indent="0" marL="0">
              <a:buNone/>
            </a:pPr>
            <a:r>
              <a:rPr lang="en-US" sz="1300" b="1" dirty="0">
                <a:solidFill>
                  <a:schemeClr val="accent1"/>
                </a:solidFill>
              </a:rPr>
              <a:t>Oplossing</a:t>
            </a:r>
            <a:endParaRPr lang="en-US" sz="1300" dirty="0"/>
          </a:p>
        </p:txBody>
      </p:sp>
      <p:sp>
        <p:nvSpPr>
          <p:cNvPr id="8" name="Text 6"/>
          <p:cNvSpPr txBox="1"/>
          <p:nvPr/>
        </p:nvSpPr>
        <p:spPr>
          <a:xfrm>
            <a:off x="2249424" y="1691640"/>
            <a:ext cx="1335024" cy="21945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1"/>
                </a:solidFill>
              </a:rPr>
              <a:t>Intake, daarna shop ik voor de klant</a:t>
            </a:r>
            <a:endParaRPr lang="en-US" sz="1100" dirty="0"/>
          </a:p>
          <a:p>
            <a:pPr marL="342900" indent="-342900">
              <a:spcAft>
                <a:spcPts val="400"/>
              </a:spcAft>
              <a:buSzPct val="100000"/>
              <a:buChar char="•"/>
            </a:pPr>
            <a:r>
              <a:rPr lang="en-US" sz="1100" dirty="0">
                <a:solidFill>
                  <a:schemeClr val="tx1"/>
                </a:solidFill>
              </a:rPr>
              <a:t>Stijl- en kleuranalyse + stijlgids</a:t>
            </a:r>
            <a:endParaRPr lang="en-US" sz="1100" dirty="0"/>
          </a:p>
          <a:p>
            <a:pPr marL="342900" indent="-342900">
              <a:spcAft>
                <a:spcPts val="400"/>
              </a:spcAft>
              <a:buSzPct val="100000"/>
              <a:buChar char="•"/>
            </a:pPr>
            <a:r>
              <a:rPr lang="en-US" sz="1100" dirty="0">
                <a:solidFill>
                  <a:schemeClr val="tx1"/>
                </a:solidFill>
              </a:rPr>
              <a:t>Kastcheck + capsule- garderobe</a:t>
            </a:r>
            <a:endParaRPr lang="en-US" sz="1100" dirty="0"/>
          </a:p>
        </p:txBody>
      </p:sp>
      <p:sp>
        <p:nvSpPr>
          <p:cNvPr id="9" name="Shape 7"/>
          <p:cNvSpPr/>
          <p:nvPr/>
        </p:nvSpPr>
        <p:spPr>
          <a:xfrm>
            <a:off x="3822192" y="1051560"/>
            <a:ext cx="1517904" cy="2880360"/>
          </a:xfrm>
          <a:prstGeom prst="roundRect">
            <a:avLst>
              <a:gd name="adj" fmla="val 4819"/>
            </a:avLst>
          </a:prstGeom>
          <a:solidFill>
            <a:schemeClr val="bg2"/>
          </a:solidFill>
          <a:ln w="12700">
            <a:solidFill>
              <a:schemeClr val="bg2"/>
            </a:solidFill>
            <a:prstDash val="solid"/>
          </a:ln>
        </p:spPr>
      </p:sp>
      <p:sp>
        <p:nvSpPr>
          <p:cNvPr id="10" name="Text 8"/>
          <p:cNvSpPr txBox="1"/>
          <p:nvPr/>
        </p:nvSpPr>
        <p:spPr>
          <a:xfrm>
            <a:off x="3931920" y="1161288"/>
            <a:ext cx="1298448" cy="502920"/>
          </a:xfrm>
          <a:prstGeom prst="rect">
            <a:avLst/>
          </a:prstGeom>
          <a:noFill/>
          <a:ln/>
        </p:spPr>
        <p:txBody>
          <a:bodyPr wrap="square" lIns="0" tIns="0" rIns="0" bIns="0" rtlCol="0" anchor="t"/>
          <a:lstStyle/>
          <a:p>
            <a:pPr indent="0" marL="0">
              <a:buNone/>
            </a:pPr>
            <a:r>
              <a:rPr lang="en-US" sz="1300" b="1" dirty="0">
                <a:solidFill>
                  <a:schemeClr val="accent1"/>
                </a:solidFill>
              </a:rPr>
              <a:t>Unieke waardepropositie</a:t>
            </a:r>
            <a:endParaRPr lang="en-US" sz="1300" dirty="0"/>
          </a:p>
        </p:txBody>
      </p:sp>
      <p:sp>
        <p:nvSpPr>
          <p:cNvPr id="11" name="Text 9"/>
          <p:cNvSpPr txBox="1"/>
          <p:nvPr/>
        </p:nvSpPr>
        <p:spPr>
          <a:xfrm>
            <a:off x="3931920" y="1691640"/>
            <a:ext cx="1335024" cy="21945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1"/>
                </a:solidFill>
              </a:rPr>
              <a:t>Stijl verbeteren zonder moeite</a:t>
            </a:r>
            <a:endParaRPr lang="en-US" sz="1100" dirty="0"/>
          </a:p>
          <a:p>
            <a:pPr marL="342900" indent="-342900">
              <a:spcAft>
                <a:spcPts val="400"/>
              </a:spcAft>
              <a:buSzPct val="100000"/>
              <a:buChar char="•"/>
            </a:pPr>
            <a:r>
              <a:rPr lang="en-US" sz="1100" dirty="0">
                <a:solidFill>
                  <a:schemeClr val="tx1"/>
                </a:solidFill>
              </a:rPr>
              <a:t>Gespecialiseerd in mannenkleding</a:t>
            </a:r>
            <a:endParaRPr lang="en-US" sz="1100" dirty="0"/>
          </a:p>
          <a:p>
            <a:pPr marL="342900" indent="-342900">
              <a:spcAft>
                <a:spcPts val="400"/>
              </a:spcAft>
              <a:buSzPct val="100000"/>
              <a:buChar char="•"/>
            </a:pPr>
            <a:r>
              <a:rPr lang="en-US" sz="1100" dirty="0">
                <a:solidFill>
                  <a:schemeClr val="tx1"/>
                </a:solidFill>
              </a:rPr>
              <a:t>Klant leert zichzelf stylen</a:t>
            </a:r>
            <a:endParaRPr lang="en-US" sz="1100" dirty="0"/>
          </a:p>
          <a:p>
            <a:pPr marL="342900" indent="-342900">
              <a:spcAft>
                <a:spcPts val="400"/>
              </a:spcAft>
              <a:buSzPct val="100000"/>
              <a:buChar char="•"/>
            </a:pPr>
            <a:r>
              <a:rPr lang="en-US" sz="1100" dirty="0">
                <a:solidFill>
                  <a:schemeClr val="tx1"/>
                </a:solidFill>
              </a:rPr>
              <a:t>Op termijn exclusieve items</a:t>
            </a:r>
            <a:endParaRPr lang="en-US" sz="1100" dirty="0"/>
          </a:p>
        </p:txBody>
      </p:sp>
      <p:sp>
        <p:nvSpPr>
          <p:cNvPr id="12" name="Shape 10"/>
          <p:cNvSpPr/>
          <p:nvPr/>
        </p:nvSpPr>
        <p:spPr>
          <a:xfrm>
            <a:off x="5504688" y="1051560"/>
            <a:ext cx="1517904" cy="2880360"/>
          </a:xfrm>
          <a:prstGeom prst="roundRect">
            <a:avLst>
              <a:gd name="adj" fmla="val 4819"/>
            </a:avLst>
          </a:prstGeom>
          <a:solidFill>
            <a:schemeClr val="bg2"/>
          </a:solidFill>
          <a:ln w="12700">
            <a:solidFill>
              <a:schemeClr val="bg2"/>
            </a:solidFill>
            <a:prstDash val="solid"/>
          </a:ln>
        </p:spPr>
      </p:sp>
      <p:sp>
        <p:nvSpPr>
          <p:cNvPr id="13" name="Text 11"/>
          <p:cNvSpPr txBox="1"/>
          <p:nvPr/>
        </p:nvSpPr>
        <p:spPr>
          <a:xfrm>
            <a:off x="5614416" y="1161288"/>
            <a:ext cx="1298448" cy="502920"/>
          </a:xfrm>
          <a:prstGeom prst="rect">
            <a:avLst/>
          </a:prstGeom>
          <a:noFill/>
          <a:ln/>
        </p:spPr>
        <p:txBody>
          <a:bodyPr wrap="square" lIns="0" tIns="0" rIns="0" bIns="0" rtlCol="0" anchor="t"/>
          <a:lstStyle/>
          <a:p>
            <a:pPr indent="0" marL="0">
              <a:buNone/>
            </a:pPr>
            <a:r>
              <a:rPr lang="en-US" sz="1300" b="1" dirty="0">
                <a:solidFill>
                  <a:schemeClr val="accent1"/>
                </a:solidFill>
              </a:rPr>
              <a:t>Oneerlijk voordeel</a:t>
            </a:r>
            <a:endParaRPr lang="en-US" sz="1300" dirty="0"/>
          </a:p>
        </p:txBody>
      </p:sp>
      <p:sp>
        <p:nvSpPr>
          <p:cNvPr id="14" name="Text 12"/>
          <p:cNvSpPr txBox="1"/>
          <p:nvPr/>
        </p:nvSpPr>
        <p:spPr>
          <a:xfrm>
            <a:off x="5614416" y="1691640"/>
            <a:ext cx="1335024" cy="21945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1"/>
                </a:solidFill>
              </a:rPr>
              <a:t>Ervaring in de kledingindustrie</a:t>
            </a:r>
            <a:endParaRPr lang="en-US" sz="1100" dirty="0"/>
          </a:p>
          <a:p>
            <a:pPr marL="342900" indent="-342900">
              <a:spcAft>
                <a:spcPts val="400"/>
              </a:spcAft>
              <a:buSzPct val="100000"/>
              <a:buChar char="•"/>
            </a:pPr>
            <a:r>
              <a:rPr lang="en-US" sz="1100" dirty="0">
                <a:solidFill>
                  <a:schemeClr val="tx1"/>
                </a:solidFill>
              </a:rPr>
              <a:t>Connecties met personeel in winkels en met personal shoppers</a:t>
            </a:r>
            <a:endParaRPr lang="en-US" sz="1100" dirty="0"/>
          </a:p>
        </p:txBody>
      </p:sp>
      <p:sp>
        <p:nvSpPr>
          <p:cNvPr id="15" name="Shape 13"/>
          <p:cNvSpPr/>
          <p:nvPr/>
        </p:nvSpPr>
        <p:spPr>
          <a:xfrm>
            <a:off x="7187184" y="1051560"/>
            <a:ext cx="1517904" cy="2880360"/>
          </a:xfrm>
          <a:prstGeom prst="roundRect">
            <a:avLst>
              <a:gd name="adj" fmla="val 4819"/>
            </a:avLst>
          </a:prstGeom>
          <a:solidFill>
            <a:schemeClr val="bg2"/>
          </a:solidFill>
          <a:ln w="12700">
            <a:solidFill>
              <a:schemeClr val="bg2"/>
            </a:solidFill>
            <a:prstDash val="solid"/>
          </a:ln>
        </p:spPr>
      </p:sp>
      <p:sp>
        <p:nvSpPr>
          <p:cNvPr id="16" name="Text 14"/>
          <p:cNvSpPr txBox="1"/>
          <p:nvPr/>
        </p:nvSpPr>
        <p:spPr>
          <a:xfrm>
            <a:off x="7296912" y="1161288"/>
            <a:ext cx="1298448" cy="502920"/>
          </a:xfrm>
          <a:prstGeom prst="rect">
            <a:avLst/>
          </a:prstGeom>
          <a:noFill/>
          <a:ln/>
        </p:spPr>
        <p:txBody>
          <a:bodyPr wrap="square" lIns="0" tIns="0" rIns="0" bIns="0" rtlCol="0" anchor="t"/>
          <a:lstStyle/>
          <a:p>
            <a:pPr indent="0" marL="0">
              <a:buNone/>
            </a:pPr>
            <a:r>
              <a:rPr lang="en-US" sz="1300" b="1" dirty="0">
                <a:solidFill>
                  <a:schemeClr val="accent1"/>
                </a:solidFill>
              </a:rPr>
              <a:t>Klantsegmenten</a:t>
            </a:r>
            <a:endParaRPr lang="en-US" sz="1300" dirty="0"/>
          </a:p>
        </p:txBody>
      </p:sp>
      <p:sp>
        <p:nvSpPr>
          <p:cNvPr id="17" name="Text 15"/>
          <p:cNvSpPr txBox="1"/>
          <p:nvPr/>
        </p:nvSpPr>
        <p:spPr>
          <a:xfrm>
            <a:off x="7296912" y="1691640"/>
            <a:ext cx="1335024" cy="21945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chemeClr val="tx1"/>
                </a:solidFill>
              </a:rPr>
              <a:t>Welvarende mannen met weinig tijd (bijv. eigen bedrijf)</a:t>
            </a:r>
            <a:endParaRPr lang="en-US" sz="1100" dirty="0"/>
          </a:p>
          <a:p>
            <a:pPr marL="342900" indent="-342900">
              <a:spcAft>
                <a:spcPts val="400"/>
              </a:spcAft>
              <a:buSzPct val="100000"/>
              <a:buChar char="•"/>
            </a:pPr>
            <a:r>
              <a:rPr lang="en-US" sz="1100" dirty="0">
                <a:solidFill>
                  <a:schemeClr val="tx1"/>
                </a:solidFill>
              </a:rPr>
              <a:t>Mannen die niet weten wat ze moeten aantrekken</a:t>
            </a:r>
            <a:endParaRPr lang="en-US" sz="1100" dirty="0"/>
          </a:p>
        </p:txBody>
      </p:sp>
      <p:sp>
        <p:nvSpPr>
          <p:cNvPr id="18" name="Shape 16"/>
          <p:cNvSpPr/>
          <p:nvPr/>
        </p:nvSpPr>
        <p:spPr>
          <a:xfrm>
            <a:off x="457200" y="4069080"/>
            <a:ext cx="457200" cy="457200"/>
          </a:xfrm>
          <a:prstGeom prst="ellipse">
            <a:avLst/>
          </a:prstGeom>
          <a:solidFill>
            <a:schemeClr val="accent1"/>
          </a:solidFill>
          <a:ln w="12700">
            <a:solidFill>
              <a:schemeClr val="accent1"/>
            </a:solidFill>
            <a:prstDash val="solid"/>
          </a:ln>
        </p:spPr>
      </p:sp>
      <p:pic>
        <p:nvPicPr>
          <p:cNvPr id="19" name="Image 0" descr="preencoded.png">    </p:cNvPr>
          <p:cNvPicPr>
            <a:picLocks noChangeAspect="1"/>
          </p:cNvPicPr>
          <p:nvPr/>
        </p:nvPicPr>
        <p:blipFill>
          <a:blip r:embed="rId1"/>
          <a:stretch>
            <a:fillRect/>
          </a:stretch>
        </p:blipFill>
        <p:spPr>
          <a:xfrm>
            <a:off x="576072" y="4187952"/>
            <a:ext cx="219456" cy="219456"/>
          </a:xfrm>
          <a:prstGeom prst="rect">
            <a:avLst/>
          </a:prstGeom>
        </p:spPr>
      </p:pic>
      <p:sp>
        <p:nvSpPr>
          <p:cNvPr id="20" name="Text 17"/>
          <p:cNvSpPr txBox="1"/>
          <p:nvPr/>
        </p:nvSpPr>
        <p:spPr>
          <a:xfrm>
            <a:off x="1051560" y="4069080"/>
            <a:ext cx="7635240" cy="548640"/>
          </a:xfrm>
          <a:prstGeom prst="rect">
            <a:avLst/>
          </a:prstGeom>
          <a:noFill/>
          <a:ln/>
        </p:spPr>
        <p:txBody>
          <a:bodyPr wrap="square" lIns="0" tIns="0" rIns="0" bIns="0" rtlCol="0" anchor="ctr"/>
          <a:lstStyle/>
          <a:p>
            <a:pPr indent="0" marL="0">
              <a:buNone/>
            </a:pPr>
            <a:r>
              <a:rPr lang="en-US" sz="1300" dirty="0">
                <a:solidFill>
                  <a:schemeClr val="tx1"/>
                </a:solidFill>
              </a:rPr>
              <a:t>High-level concept: “Het juiste item, persoonlijk gevonden en geleverd.” Alles nog gebaseerd op deskresearch en mijn ervaring in de winkel.</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Segmentatie: wie is mijn eerste klant?</a:t>
            </a:r>
            <a:endParaRPr lang="en-US" sz="2600" dirty="0"/>
          </a:p>
        </p:txBody>
      </p:sp>
      <p:graphicFrame>
        <p:nvGraphicFramePr>
          <p:cNvPr id="3" name="Chart 0" descr=""/>
          <p:cNvGraphicFramePr/>
          <p:nvPr/>
        </p:nvGraphicFramePr>
        <p:xfrm>
          <a:off x="365760" y="1005840"/>
          <a:ext cx="4572000" cy="27432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212080" y="1051560"/>
            <a:ext cx="3474720" cy="3566160"/>
          </a:xfrm>
          <a:prstGeom prst="roundRect">
            <a:avLst>
              <a:gd name="adj" fmla="val 2105"/>
            </a:avLst>
          </a:prstGeom>
          <a:solidFill>
            <a:schemeClr val="tx1"/>
          </a:solidFill>
          <a:ln w="12700">
            <a:solidFill>
              <a:schemeClr val="tx1"/>
            </a:solidFill>
            <a:prstDash val="solid"/>
          </a:ln>
        </p:spPr>
      </p:sp>
      <p:sp>
        <p:nvSpPr>
          <p:cNvPr id="5" name="Shape 2"/>
          <p:cNvSpPr/>
          <p:nvPr/>
        </p:nvSpPr>
        <p:spPr>
          <a:xfrm>
            <a:off x="5440680" y="1280160"/>
            <a:ext cx="502920" cy="5029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2"/>
          <a:stretch>
            <a:fillRect/>
          </a:stretch>
        </p:blipFill>
        <p:spPr>
          <a:xfrm>
            <a:off x="5571439" y="1410919"/>
            <a:ext cx="241402" cy="241402"/>
          </a:xfrm>
          <a:prstGeom prst="rect">
            <a:avLst/>
          </a:prstGeom>
        </p:spPr>
      </p:pic>
      <p:sp>
        <p:nvSpPr>
          <p:cNvPr id="7" name="Text 3"/>
          <p:cNvSpPr txBox="1"/>
          <p:nvPr/>
        </p:nvSpPr>
        <p:spPr>
          <a:xfrm>
            <a:off x="6080760" y="1325880"/>
            <a:ext cx="2468880" cy="411480"/>
          </a:xfrm>
          <a:prstGeom prst="rect">
            <a:avLst/>
          </a:prstGeom>
          <a:noFill/>
          <a:ln/>
        </p:spPr>
        <p:txBody>
          <a:bodyPr wrap="square" lIns="0" tIns="0" rIns="0" bIns="0" rtlCol="0" anchor="ctr"/>
          <a:lstStyle/>
          <a:p>
            <a:pPr indent="0" marL="0">
              <a:buNone/>
            </a:pPr>
            <a:r>
              <a:rPr lang="en-US" sz="1600" b="1" dirty="0">
                <a:solidFill>
                  <a:schemeClr val="bg1"/>
                </a:solidFill>
              </a:rPr>
              <a:t>Mijn eerste klant</a:t>
            </a:r>
            <a:endParaRPr lang="en-US" sz="1600" dirty="0"/>
          </a:p>
        </p:txBody>
      </p:sp>
      <p:sp>
        <p:nvSpPr>
          <p:cNvPr id="8" name="Text 4"/>
          <p:cNvSpPr txBox="1"/>
          <p:nvPr/>
        </p:nvSpPr>
        <p:spPr>
          <a:xfrm>
            <a:off x="5440680" y="1965960"/>
            <a:ext cx="3063240" cy="256032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bg1"/>
                </a:solidFill>
              </a:rPr>
              <a:t>Man, 25–45 jaar</a:t>
            </a:r>
            <a:endParaRPr lang="en-US" sz="1300" dirty="0"/>
          </a:p>
          <a:p>
            <a:pPr marL="342900" indent="-342900">
              <a:spcAft>
                <a:spcPts val="500"/>
              </a:spcAft>
              <a:buSzPct val="100000"/>
              <a:buChar char="•"/>
            </a:pPr>
            <a:r>
              <a:rPr lang="en-US" sz="1300" dirty="0">
                <a:solidFill>
                  <a:schemeClr val="bg1"/>
                </a:solidFill>
              </a:rPr>
              <a:t>Drukke baan of eigen bedrijf</a:t>
            </a:r>
            <a:endParaRPr lang="en-US" sz="1300" dirty="0"/>
          </a:p>
          <a:p>
            <a:pPr marL="342900" indent="-342900">
              <a:spcAft>
                <a:spcPts val="500"/>
              </a:spcAft>
              <a:buSzPct val="100000"/>
              <a:buChar char="•"/>
            </a:pPr>
            <a:r>
              <a:rPr lang="en-US" sz="1300" dirty="0">
                <a:solidFill>
                  <a:schemeClr val="bg1"/>
                </a:solidFill>
              </a:rPr>
              <a:t>Inkomen boven modaal</a:t>
            </a:r>
            <a:endParaRPr lang="en-US" sz="1300" dirty="0"/>
          </a:p>
          <a:p>
            <a:pPr marL="342900" indent="-342900">
              <a:spcAft>
                <a:spcPts val="500"/>
              </a:spcAft>
              <a:buSzPct val="100000"/>
              <a:buChar char="•"/>
            </a:pPr>
            <a:r>
              <a:rPr lang="en-US" sz="1300" dirty="0">
                <a:solidFill>
                  <a:schemeClr val="bg1"/>
                </a:solidFill>
              </a:rPr>
              <a:t>Regio Amsterdam</a:t>
            </a:r>
            <a:endParaRPr lang="en-US" sz="1300" dirty="0"/>
          </a:p>
          <a:p>
            <a:pPr marL="342900" indent="-342900">
              <a:spcAft>
                <a:spcPts val="500"/>
              </a:spcAft>
              <a:buSzPct val="100000"/>
              <a:buChar char="•"/>
            </a:pPr>
            <a:r>
              <a:rPr lang="en-US" sz="1300" dirty="0">
                <a:solidFill>
                  <a:schemeClr val="bg1"/>
                </a:solidFill>
              </a:rPr>
              <a:t>Wil zijn stijl verbeteren, maar heeft geen tijd of zin om te winkelen</a:t>
            </a:r>
            <a:endParaRPr lang="en-US" sz="1300" dirty="0"/>
          </a:p>
          <a:p>
            <a:pPr marL="342900" indent="-342900">
              <a:spcAft>
                <a:spcPts val="500"/>
              </a:spcAft>
              <a:buSzPct val="100000"/>
              <a:buChar char="•"/>
            </a:pPr>
            <a:r>
              <a:rPr lang="en-US" sz="1300" dirty="0">
                <a:solidFill>
                  <a:schemeClr val="bg1"/>
                </a:solidFill>
              </a:rPr>
              <a:t>Wordt vaste klant als het advies klopt</a:t>
            </a:r>
            <a:endParaRPr lang="en-US" sz="1300" dirty="0"/>
          </a:p>
        </p:txBody>
      </p:sp>
      <p:sp>
        <p:nvSpPr>
          <p:cNvPr id="9" name="Text 5"/>
          <p:cNvSpPr txBox="1"/>
          <p:nvPr/>
        </p:nvSpPr>
        <p:spPr>
          <a:xfrm>
            <a:off x="457200" y="3931920"/>
            <a:ext cx="4572000" cy="548640"/>
          </a:xfrm>
          <a:prstGeom prst="rect">
            <a:avLst/>
          </a:prstGeom>
          <a:noFill/>
          <a:ln/>
        </p:spPr>
        <p:txBody>
          <a:bodyPr wrap="square" lIns="0" tIns="0" rIns="0" bIns="0" rtlCol="0" anchor="t"/>
          <a:lstStyle/>
          <a:p>
            <a:pPr indent="0" marL="0">
              <a:buNone/>
            </a:pPr>
            <a:r>
              <a:rPr lang="en-US" sz="1200" i="1" dirty="0">
                <a:solidFill>
                  <a:schemeClr val="accent4"/>
                </a:solidFill>
              </a:rPr>
              <a:t>Gesegmenteerd op geslacht, leeftijd, inkomen, geografie, gedrag en motivatie.</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Klantonderzoek: 10 interviews, 5 hypothesen</a:t>
            </a:r>
            <a:endParaRPr lang="en-US" sz="2600" dirty="0"/>
          </a:p>
        </p:txBody>
      </p:sp>
      <p:sp>
        <p:nvSpPr>
          <p:cNvPr id="3" name="Shape 1"/>
          <p:cNvSpPr/>
          <p:nvPr/>
        </p:nvSpPr>
        <p:spPr>
          <a:xfrm>
            <a:off x="457200" y="1051560"/>
            <a:ext cx="2926080" cy="3566160"/>
          </a:xfrm>
          <a:prstGeom prst="roundRect">
            <a:avLst>
              <a:gd name="adj" fmla="val 2500"/>
            </a:avLst>
          </a:prstGeom>
          <a:solidFill>
            <a:schemeClr val="bg2"/>
          </a:solidFill>
          <a:ln w="12700">
            <a:solidFill>
              <a:schemeClr val="bg2"/>
            </a:solidFill>
            <a:prstDash val="solid"/>
          </a:ln>
        </p:spPr>
      </p:sp>
      <p:sp>
        <p:nvSpPr>
          <p:cNvPr id="4" name="Shape 2"/>
          <p:cNvSpPr/>
          <p:nvPr/>
        </p:nvSpPr>
        <p:spPr>
          <a:xfrm>
            <a:off x="640080" y="123444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8952" y="1353312"/>
            <a:ext cx="219456" cy="219456"/>
          </a:xfrm>
          <a:prstGeom prst="rect">
            <a:avLst/>
          </a:prstGeom>
        </p:spPr>
      </p:pic>
      <p:sp>
        <p:nvSpPr>
          <p:cNvPr id="6" name="Text 3"/>
          <p:cNvSpPr txBox="1"/>
          <p:nvPr/>
        </p:nvSpPr>
        <p:spPr>
          <a:xfrm>
            <a:off x="1234440" y="1280160"/>
            <a:ext cx="2011680" cy="365760"/>
          </a:xfrm>
          <a:prstGeom prst="rect">
            <a:avLst/>
          </a:prstGeom>
          <a:noFill/>
          <a:ln/>
        </p:spPr>
        <p:txBody>
          <a:bodyPr wrap="square" lIns="0" tIns="0" rIns="0" bIns="0" rtlCol="0" anchor="ctr"/>
          <a:lstStyle/>
          <a:p>
            <a:pPr indent="0" marL="0">
              <a:buNone/>
            </a:pPr>
            <a:r>
              <a:rPr lang="en-US" sz="1600" b="1" dirty="0">
                <a:solidFill>
                  <a:schemeClr val="tx1"/>
                </a:solidFill>
              </a:rPr>
              <a:t>Opzet</a:t>
            </a:r>
            <a:endParaRPr lang="en-US" sz="1600" dirty="0"/>
          </a:p>
        </p:txBody>
      </p:sp>
      <p:sp>
        <p:nvSpPr>
          <p:cNvPr id="7" name="Text 4"/>
          <p:cNvSpPr txBox="1"/>
          <p:nvPr/>
        </p:nvSpPr>
        <p:spPr>
          <a:xfrm>
            <a:off x="640080" y="1828800"/>
            <a:ext cx="2606040" cy="2743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10 interviews van ±15 min</a:t>
            </a:r>
            <a:endParaRPr lang="en-US" sz="1300" dirty="0"/>
          </a:p>
          <a:p>
            <a:pPr marL="342900" indent="-342900">
              <a:spcAft>
                <a:spcPts val="500"/>
              </a:spcAft>
              <a:buSzPct val="100000"/>
              <a:buChar char="•"/>
            </a:pPr>
            <a:r>
              <a:rPr lang="en-US" sz="1300" dirty="0">
                <a:solidFill>
                  <a:schemeClr val="tx1"/>
                </a:solidFill>
              </a:rPr>
              <a:t>Jongeren 17–21 die vaak bij luxemerken kopen</a:t>
            </a:r>
            <a:endParaRPr lang="en-US" sz="1300" dirty="0"/>
          </a:p>
          <a:p>
            <a:pPr marL="342900" indent="-342900">
              <a:spcAft>
                <a:spcPts val="500"/>
              </a:spcAft>
              <a:buSzPct val="100000"/>
              <a:buChar char="•"/>
            </a:pPr>
            <a:r>
              <a:rPr lang="en-US" sz="1300" dirty="0">
                <a:solidFill>
                  <a:schemeClr val="tx1"/>
                </a:solidFill>
              </a:rPr>
              <a:t>Werving: klanten uit de winkel, LinkedIn, netwerk</a:t>
            </a:r>
            <a:endParaRPr lang="en-US" sz="1300" dirty="0"/>
          </a:p>
          <a:p>
            <a:pPr marL="342900" indent="-342900">
              <a:spcAft>
                <a:spcPts val="500"/>
              </a:spcAft>
              <a:buSzPct val="100000"/>
              <a:buChar char="•"/>
            </a:pPr>
            <a:r>
              <a:rPr lang="en-US" sz="1300" dirty="0">
                <a:solidFill>
                  <a:schemeClr val="tx1"/>
                </a:solidFill>
              </a:rPr>
              <a:t>Eén script, idee pas aan het eind</a:t>
            </a:r>
            <a:endParaRPr lang="en-US" sz="1300" dirty="0"/>
          </a:p>
          <a:p>
            <a:pPr marL="342900" indent="-342900">
              <a:spcAft>
                <a:spcPts val="500"/>
              </a:spcAft>
              <a:buSzPct val="100000"/>
              <a:buChar char="•"/>
            </a:pPr>
            <a:r>
              <a:rPr lang="en-US" sz="1300" dirty="0">
                <a:solidFill>
                  <a:schemeClr val="tx1"/>
                </a:solidFill>
              </a:rPr>
              <a:t>Opgenomen, getranscribeerd, open en axiaal gecodeerd</a:t>
            </a:r>
            <a:endParaRPr lang="en-US" sz="1300" dirty="0"/>
          </a:p>
        </p:txBody>
      </p:sp>
      <p:graphicFrame>
        <p:nvGraphicFramePr>
          <p:cNvPr id="8" name="Chart 0" descr=""/>
          <p:cNvGraphicFramePr/>
          <p:nvPr/>
        </p:nvGraphicFramePr>
        <p:xfrm>
          <a:off x="3566160" y="1005840"/>
          <a:ext cx="5120640" cy="310896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3566160" y="4206240"/>
            <a:ext cx="5120640" cy="411480"/>
          </a:xfrm>
          <a:prstGeom prst="rect">
            <a:avLst/>
          </a:prstGeom>
          <a:noFill/>
          <a:ln/>
        </p:spPr>
        <p:txBody>
          <a:bodyPr wrap="square" lIns="0" tIns="0" rIns="0" bIns="0" rtlCol="0" anchor="t"/>
          <a:lstStyle/>
          <a:p>
            <a:pPr indent="0" marL="0">
              <a:buNone/>
            </a:pPr>
            <a:r>
              <a:rPr lang="en-US" sz="1300" b="1" dirty="0">
                <a:solidFill>
                  <a:schemeClr val="accent3"/>
                </a:solidFill>
              </a:rPr>
              <a:t>4 van 5 hypothesen bevestigd; H2 (twijfel over wat hen staat) niet: 3 van 10.</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Wat de interviews laten zien</a:t>
            </a:r>
            <a:endParaRPr lang="en-US" sz="2600" dirty="0"/>
          </a:p>
        </p:txBody>
      </p:sp>
      <p:sp>
        <p:nvSpPr>
          <p:cNvPr id="3" name="Shape 1"/>
          <p:cNvSpPr/>
          <p:nvPr/>
        </p:nvSpPr>
        <p:spPr>
          <a:xfrm>
            <a:off x="457200" y="1051560"/>
            <a:ext cx="2615184" cy="1645920"/>
          </a:xfrm>
          <a:prstGeom prst="roundRect">
            <a:avLst>
              <a:gd name="adj" fmla="val 4444"/>
            </a:avLst>
          </a:prstGeom>
          <a:solidFill>
            <a:schemeClr val="bg2"/>
          </a:solidFill>
          <a:ln w="12700">
            <a:solidFill>
              <a:schemeClr val="bg2"/>
            </a:solidFill>
            <a:prstDash val="solid"/>
          </a:ln>
        </p:spPr>
      </p:sp>
      <p:sp>
        <p:nvSpPr>
          <p:cNvPr id="4" name="Text 2"/>
          <p:cNvSpPr txBox="1"/>
          <p:nvPr/>
        </p:nvSpPr>
        <p:spPr>
          <a:xfrm>
            <a:off x="640080" y="1188720"/>
            <a:ext cx="22860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8/10</a:t>
            </a:r>
            <a:endParaRPr lang="en-US" sz="3600" dirty="0"/>
          </a:p>
        </p:txBody>
      </p:sp>
      <p:sp>
        <p:nvSpPr>
          <p:cNvPr id="5" name="Text 3"/>
          <p:cNvSpPr txBox="1"/>
          <p:nvPr/>
        </p:nvSpPr>
        <p:spPr>
          <a:xfrm>
            <a:off x="640080" y="1874520"/>
            <a:ext cx="2286000" cy="731520"/>
          </a:xfrm>
          <a:prstGeom prst="rect">
            <a:avLst/>
          </a:prstGeom>
          <a:noFill/>
          <a:ln/>
        </p:spPr>
        <p:txBody>
          <a:bodyPr wrap="square" lIns="0" tIns="0" rIns="0" bIns="0" rtlCol="0" anchor="t"/>
          <a:lstStyle/>
          <a:p>
            <a:pPr indent="0" marL="0">
              <a:buNone/>
            </a:pPr>
            <a:r>
              <a:rPr lang="en-US" sz="1300" dirty="0">
                <a:solidFill>
                  <a:schemeClr val="tx1"/>
                </a:solidFill>
              </a:rPr>
              <a:t>noemt service en persoonlijke aandacht het belangrijkst</a:t>
            </a:r>
            <a:endParaRPr lang="en-US" sz="1300" dirty="0"/>
          </a:p>
        </p:txBody>
      </p:sp>
      <p:sp>
        <p:nvSpPr>
          <p:cNvPr id="6" name="Shape 4"/>
          <p:cNvSpPr/>
          <p:nvPr/>
        </p:nvSpPr>
        <p:spPr>
          <a:xfrm>
            <a:off x="3264408" y="1051560"/>
            <a:ext cx="2615184" cy="1645920"/>
          </a:xfrm>
          <a:prstGeom prst="roundRect">
            <a:avLst>
              <a:gd name="adj" fmla="val 4444"/>
            </a:avLst>
          </a:prstGeom>
          <a:solidFill>
            <a:schemeClr val="bg2"/>
          </a:solidFill>
          <a:ln w="12700">
            <a:solidFill>
              <a:schemeClr val="bg2"/>
            </a:solidFill>
            <a:prstDash val="solid"/>
          </a:ln>
        </p:spPr>
      </p:sp>
      <p:sp>
        <p:nvSpPr>
          <p:cNvPr id="7" name="Text 5"/>
          <p:cNvSpPr txBox="1"/>
          <p:nvPr/>
        </p:nvSpPr>
        <p:spPr>
          <a:xfrm>
            <a:off x="3447288" y="1188720"/>
            <a:ext cx="22860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9/9</a:t>
            </a:r>
            <a:endParaRPr lang="en-US" sz="3600" dirty="0"/>
          </a:p>
        </p:txBody>
      </p:sp>
      <p:sp>
        <p:nvSpPr>
          <p:cNvPr id="8" name="Text 6"/>
          <p:cNvSpPr txBox="1"/>
          <p:nvPr/>
        </p:nvSpPr>
        <p:spPr>
          <a:xfrm>
            <a:off x="3447288" y="1874520"/>
            <a:ext cx="2286000" cy="731520"/>
          </a:xfrm>
          <a:prstGeom prst="rect">
            <a:avLst/>
          </a:prstGeom>
          <a:noFill/>
          <a:ln/>
        </p:spPr>
        <p:txBody>
          <a:bodyPr wrap="square" lIns="0" tIns="0" rIns="0" bIns="0" rtlCol="0" anchor="t"/>
          <a:lstStyle/>
          <a:p>
            <a:pPr indent="0" marL="0">
              <a:buNone/>
            </a:pPr>
            <a:r>
              <a:rPr lang="en-US" sz="1300" dirty="0">
                <a:solidFill>
                  <a:schemeClr val="tx1"/>
                </a:solidFill>
              </a:rPr>
              <a:t>laat al weleens iemand anders iets voor hem kopen of regelen</a:t>
            </a:r>
            <a:endParaRPr lang="en-US" sz="1300" dirty="0"/>
          </a:p>
        </p:txBody>
      </p:sp>
      <p:sp>
        <p:nvSpPr>
          <p:cNvPr id="9" name="Shape 7"/>
          <p:cNvSpPr/>
          <p:nvPr/>
        </p:nvSpPr>
        <p:spPr>
          <a:xfrm>
            <a:off x="6071616" y="1051560"/>
            <a:ext cx="2615184" cy="1645920"/>
          </a:xfrm>
          <a:prstGeom prst="roundRect">
            <a:avLst>
              <a:gd name="adj" fmla="val 4444"/>
            </a:avLst>
          </a:prstGeom>
          <a:solidFill>
            <a:schemeClr val="bg2"/>
          </a:solidFill>
          <a:ln w="12700">
            <a:solidFill>
              <a:schemeClr val="bg2"/>
            </a:solidFill>
            <a:prstDash val="solid"/>
          </a:ln>
        </p:spPr>
      </p:sp>
      <p:sp>
        <p:nvSpPr>
          <p:cNvPr id="10" name="Text 8"/>
          <p:cNvSpPr txBox="1"/>
          <p:nvPr/>
        </p:nvSpPr>
        <p:spPr>
          <a:xfrm>
            <a:off x="6254496" y="1188720"/>
            <a:ext cx="22860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6/9</a:t>
            </a:r>
            <a:endParaRPr lang="en-US" sz="3600" dirty="0"/>
          </a:p>
        </p:txBody>
      </p:sp>
      <p:sp>
        <p:nvSpPr>
          <p:cNvPr id="11" name="Text 9"/>
          <p:cNvSpPr txBox="1"/>
          <p:nvPr/>
        </p:nvSpPr>
        <p:spPr>
          <a:xfrm>
            <a:off x="6254496" y="1874520"/>
            <a:ext cx="2286000" cy="731520"/>
          </a:xfrm>
          <a:prstGeom prst="rect">
            <a:avLst/>
          </a:prstGeom>
          <a:noFill/>
          <a:ln/>
        </p:spPr>
        <p:txBody>
          <a:bodyPr wrap="square" lIns="0" tIns="0" rIns="0" bIns="0" rtlCol="0" anchor="t"/>
          <a:lstStyle/>
          <a:p>
            <a:pPr indent="0" marL="0">
              <a:buNone/>
            </a:pPr>
            <a:r>
              <a:rPr lang="en-US" sz="1300" dirty="0">
                <a:solidFill>
                  <a:schemeClr val="tx1"/>
                </a:solidFill>
              </a:rPr>
              <a:t>zou liever minder tijd aan shoppen kwijt zijn</a:t>
            </a:r>
            <a:endParaRPr lang="en-US" sz="1300" dirty="0"/>
          </a:p>
        </p:txBody>
      </p:sp>
      <p:sp>
        <p:nvSpPr>
          <p:cNvPr id="12" name="Shape 10"/>
          <p:cNvSpPr/>
          <p:nvPr/>
        </p:nvSpPr>
        <p:spPr>
          <a:xfrm>
            <a:off x="457200" y="2862072"/>
            <a:ext cx="2615184" cy="1645920"/>
          </a:xfrm>
          <a:prstGeom prst="roundRect">
            <a:avLst>
              <a:gd name="adj" fmla="val 4444"/>
            </a:avLst>
          </a:prstGeom>
          <a:solidFill>
            <a:schemeClr val="bg2"/>
          </a:solidFill>
          <a:ln w="12700">
            <a:solidFill>
              <a:schemeClr val="bg2"/>
            </a:solidFill>
            <a:prstDash val="solid"/>
          </a:ln>
        </p:spPr>
      </p:sp>
      <p:sp>
        <p:nvSpPr>
          <p:cNvPr id="13" name="Text 11"/>
          <p:cNvSpPr txBox="1"/>
          <p:nvPr/>
        </p:nvSpPr>
        <p:spPr>
          <a:xfrm>
            <a:off x="640080" y="2999232"/>
            <a:ext cx="22860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8/10</a:t>
            </a:r>
            <a:endParaRPr lang="en-US" sz="3600" dirty="0"/>
          </a:p>
        </p:txBody>
      </p:sp>
      <p:sp>
        <p:nvSpPr>
          <p:cNvPr id="14" name="Text 12"/>
          <p:cNvSpPr txBox="1"/>
          <p:nvPr/>
        </p:nvSpPr>
        <p:spPr>
          <a:xfrm>
            <a:off x="640080" y="3685032"/>
            <a:ext cx="2286000" cy="731520"/>
          </a:xfrm>
          <a:prstGeom prst="rect">
            <a:avLst/>
          </a:prstGeom>
          <a:noFill/>
          <a:ln/>
        </p:spPr>
        <p:txBody>
          <a:bodyPr wrap="square" lIns="0" tIns="0" rIns="0" bIns="0" rtlCol="0" anchor="t"/>
          <a:lstStyle/>
          <a:p>
            <a:pPr indent="0" marL="0">
              <a:buNone/>
            </a:pPr>
            <a:r>
              <a:rPr lang="en-US" sz="1300" dirty="0">
                <a:solidFill>
                  <a:schemeClr val="tx1"/>
                </a:solidFill>
              </a:rPr>
              <a:t>kon weleens een item niet (op tijd) krijgen</a:t>
            </a:r>
            <a:endParaRPr lang="en-US" sz="1300" dirty="0"/>
          </a:p>
        </p:txBody>
      </p:sp>
      <p:sp>
        <p:nvSpPr>
          <p:cNvPr id="15" name="Shape 13"/>
          <p:cNvSpPr/>
          <p:nvPr/>
        </p:nvSpPr>
        <p:spPr>
          <a:xfrm>
            <a:off x="3264408" y="2862072"/>
            <a:ext cx="2615184" cy="1645920"/>
          </a:xfrm>
          <a:prstGeom prst="roundRect">
            <a:avLst>
              <a:gd name="adj" fmla="val 4444"/>
            </a:avLst>
          </a:prstGeom>
          <a:solidFill>
            <a:schemeClr val="bg2"/>
          </a:solidFill>
          <a:ln w="12700">
            <a:solidFill>
              <a:schemeClr val="bg2"/>
            </a:solidFill>
            <a:prstDash val="solid"/>
          </a:ln>
        </p:spPr>
      </p:sp>
      <p:sp>
        <p:nvSpPr>
          <p:cNvPr id="16" name="Text 14"/>
          <p:cNvSpPr txBox="1"/>
          <p:nvPr/>
        </p:nvSpPr>
        <p:spPr>
          <a:xfrm>
            <a:off x="3447288" y="2999232"/>
            <a:ext cx="228600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8/10</a:t>
            </a:r>
            <a:endParaRPr lang="en-US" sz="3600" dirty="0"/>
          </a:p>
        </p:txBody>
      </p:sp>
      <p:sp>
        <p:nvSpPr>
          <p:cNvPr id="17" name="Text 15"/>
          <p:cNvSpPr txBox="1"/>
          <p:nvPr/>
        </p:nvSpPr>
        <p:spPr>
          <a:xfrm>
            <a:off x="3447288" y="3685032"/>
            <a:ext cx="2286000" cy="731520"/>
          </a:xfrm>
          <a:prstGeom prst="rect">
            <a:avLst/>
          </a:prstGeom>
          <a:noFill/>
          <a:ln/>
        </p:spPr>
        <p:txBody>
          <a:bodyPr wrap="square" lIns="0" tIns="0" rIns="0" bIns="0" rtlCol="0" anchor="t"/>
          <a:lstStyle/>
          <a:p>
            <a:pPr indent="0" marL="0">
              <a:buNone/>
            </a:pPr>
            <a:r>
              <a:rPr lang="en-US" sz="1300" dirty="0">
                <a:solidFill>
                  <a:schemeClr val="tx1"/>
                </a:solidFill>
              </a:rPr>
              <a:t>koopt luxe vooral in de fysieke winkel</a:t>
            </a:r>
            <a:endParaRPr lang="en-US" sz="1300" dirty="0"/>
          </a:p>
        </p:txBody>
      </p:sp>
      <p:sp>
        <p:nvSpPr>
          <p:cNvPr id="18" name="Shape 16"/>
          <p:cNvSpPr/>
          <p:nvPr/>
        </p:nvSpPr>
        <p:spPr>
          <a:xfrm>
            <a:off x="6071616" y="2862072"/>
            <a:ext cx="2615184" cy="1645920"/>
          </a:xfrm>
          <a:prstGeom prst="roundRect">
            <a:avLst>
              <a:gd name="adj" fmla="val 4444"/>
            </a:avLst>
          </a:prstGeom>
          <a:solidFill>
            <a:schemeClr val="tx1"/>
          </a:solidFill>
          <a:ln w="12700">
            <a:solidFill>
              <a:schemeClr val="tx1"/>
            </a:solidFill>
            <a:prstDash val="solid"/>
          </a:ln>
        </p:spPr>
      </p:sp>
      <p:sp>
        <p:nvSpPr>
          <p:cNvPr id="19" name="Text 17"/>
          <p:cNvSpPr txBox="1"/>
          <p:nvPr/>
        </p:nvSpPr>
        <p:spPr>
          <a:xfrm>
            <a:off x="6254496" y="2999232"/>
            <a:ext cx="2286000" cy="640080"/>
          </a:xfrm>
          <a:prstGeom prst="rect">
            <a:avLst/>
          </a:prstGeom>
          <a:noFill/>
          <a:ln/>
        </p:spPr>
        <p:txBody>
          <a:bodyPr wrap="square" lIns="0" tIns="0" rIns="0" bIns="0" rtlCol="0" anchor="t"/>
          <a:lstStyle/>
          <a:p>
            <a:pPr indent="0" marL="0">
              <a:buNone/>
            </a:pPr>
            <a:r>
              <a:rPr lang="en-US" sz="3600" b="1" dirty="0">
                <a:solidFill>
                  <a:schemeClr val="accent5"/>
                </a:solidFill>
                <a:latin typeface="Cambria" pitchFamily="34" charset="0"/>
                <a:ea typeface="Cambria" pitchFamily="34" charset="-122"/>
                <a:cs typeface="Cambria" pitchFamily="34" charset="-120"/>
              </a:rPr>
              <a:t>10/10</a:t>
            </a:r>
            <a:endParaRPr lang="en-US" sz="3600" dirty="0"/>
          </a:p>
        </p:txBody>
      </p:sp>
      <p:sp>
        <p:nvSpPr>
          <p:cNvPr id="20" name="Text 18"/>
          <p:cNvSpPr txBox="1"/>
          <p:nvPr/>
        </p:nvSpPr>
        <p:spPr>
          <a:xfrm>
            <a:off x="6254496" y="3685032"/>
            <a:ext cx="2286000" cy="731520"/>
          </a:xfrm>
          <a:prstGeom prst="rect">
            <a:avLst/>
          </a:prstGeom>
          <a:noFill/>
          <a:ln/>
        </p:spPr>
        <p:txBody>
          <a:bodyPr wrap="square" lIns="0" tIns="0" rIns="0" bIns="0" rtlCol="0" anchor="t"/>
          <a:lstStyle/>
          <a:p>
            <a:pPr indent="0" marL="0">
              <a:buNone/>
            </a:pPr>
            <a:r>
              <a:rPr lang="en-US" sz="1300" dirty="0">
                <a:solidFill>
                  <a:schemeClr val="bg1"/>
                </a:solidFill>
              </a:rPr>
              <a:t>staat open voor een personal shopper: 5 direct, 5 onder voorwaarden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Conclusies: voorwaarden en bijsturing</a:t>
            </a:r>
            <a:endParaRPr lang="en-US" sz="2600" dirty="0"/>
          </a:p>
        </p:txBody>
      </p:sp>
      <p:sp>
        <p:nvSpPr>
          <p:cNvPr id="3" name="Shape 1"/>
          <p:cNvSpPr/>
          <p:nvPr/>
        </p:nvSpPr>
        <p:spPr>
          <a:xfrm>
            <a:off x="457200" y="1051560"/>
            <a:ext cx="3977640" cy="3566160"/>
          </a:xfrm>
          <a:prstGeom prst="roundRect">
            <a:avLst>
              <a:gd name="adj" fmla="val 2051"/>
            </a:avLst>
          </a:prstGeom>
          <a:solidFill>
            <a:schemeClr val="bg2"/>
          </a:solidFill>
          <a:ln w="12700">
            <a:solidFill>
              <a:schemeClr val="bg2"/>
            </a:solidFill>
            <a:prstDash val="solid"/>
          </a:ln>
        </p:spPr>
      </p:sp>
      <p:sp>
        <p:nvSpPr>
          <p:cNvPr id="4" name="Shape 2"/>
          <p:cNvSpPr/>
          <p:nvPr/>
        </p:nvSpPr>
        <p:spPr>
          <a:xfrm>
            <a:off x="640080" y="123444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8952" y="1353312"/>
            <a:ext cx="219456" cy="219456"/>
          </a:xfrm>
          <a:prstGeom prst="rect">
            <a:avLst/>
          </a:prstGeom>
        </p:spPr>
      </p:pic>
      <p:sp>
        <p:nvSpPr>
          <p:cNvPr id="6" name="Text 3"/>
          <p:cNvSpPr txBox="1"/>
          <p:nvPr/>
        </p:nvSpPr>
        <p:spPr>
          <a:xfrm>
            <a:off x="1234440" y="1280160"/>
            <a:ext cx="3017520" cy="365760"/>
          </a:xfrm>
          <a:prstGeom prst="rect">
            <a:avLst/>
          </a:prstGeom>
          <a:noFill/>
          <a:ln/>
        </p:spPr>
        <p:txBody>
          <a:bodyPr wrap="square" lIns="0" tIns="0" rIns="0" bIns="0" rtlCol="0" anchor="ctr"/>
          <a:lstStyle/>
          <a:p>
            <a:pPr indent="0" marL="0">
              <a:buNone/>
            </a:pPr>
            <a:r>
              <a:rPr lang="en-US" sz="1600" b="1" dirty="0">
                <a:solidFill>
                  <a:schemeClr val="tx1"/>
                </a:solidFill>
              </a:rPr>
              <a:t>Voorwaarden van de klant</a:t>
            </a:r>
            <a:endParaRPr lang="en-US" sz="1600" dirty="0"/>
          </a:p>
        </p:txBody>
      </p:sp>
      <p:sp>
        <p:nvSpPr>
          <p:cNvPr id="7" name="Text 4"/>
          <p:cNvSpPr txBox="1"/>
          <p:nvPr/>
        </p:nvSpPr>
        <p:spPr>
          <a:xfrm>
            <a:off x="640080" y="1828800"/>
            <a:ext cx="3657600" cy="2743200"/>
          </a:xfrm>
          <a:prstGeom prst="rect">
            <a:avLst/>
          </a:prstGeom>
          <a:noFill/>
          <a:ln/>
        </p:spPr>
        <p:txBody>
          <a:bodyPr wrap="square" lIns="0" tIns="0" rIns="0" bIns="0" rtlCol="0" anchor="t"/>
          <a:lstStyle/>
          <a:p>
            <a:pPr indent="0" marL="0">
              <a:spcAft>
                <a:spcPts val="800"/>
              </a:spcAft>
              <a:buNone/>
            </a:pPr>
            <a:r>
              <a:rPr lang="en-US" sz="1300" b="1" dirty="0">
                <a:solidFill>
                  <a:schemeClr val="accent1"/>
                </a:solidFill>
              </a:rPr>
              <a:t>6/10: </a:t>
            </a:r>
            <a:pPr indent="0" marL="0">
              <a:spcAft>
                <a:spcPts val="800"/>
              </a:spcAft>
              <a:buNone/>
            </a:pPr>
            <a:r>
              <a:rPr lang="en-US" sz="1300" dirty="0">
                <a:solidFill>
                  <a:schemeClr val="tx1"/>
                </a:solidFill>
              </a:rPr>
              <a:t>shopper moet stijl, smaak en maat kennen → intake en kastcheck eerst</a:t>
            </a:r>
            <a:endParaRPr lang="en-US" sz="1300" dirty="0"/>
          </a:p>
          <a:p>
            <a:pPr indent="0" marL="0">
              <a:spcAft>
                <a:spcPts val="800"/>
              </a:spcAft>
              <a:buNone/>
            </a:pPr>
            <a:r>
              <a:rPr lang="en-US" sz="1300" b="1" dirty="0">
                <a:solidFill>
                  <a:schemeClr val="accent1"/>
                </a:solidFill>
              </a:rPr>
              <a:t>6/10: </a:t>
            </a:r>
            <a:pPr indent="0" marL="0">
              <a:spcAft>
                <a:spcPts val="800"/>
              </a:spcAft>
              <a:buNone/>
            </a:pPr>
            <a:r>
              <a:rPr lang="en-US" sz="1300" dirty="0">
                <a:solidFill>
                  <a:schemeClr val="tx1"/>
                </a:solidFill>
              </a:rPr>
              <a:t>echtheid is cruciaal → alleen kopen bij het merk of erkende winkels</a:t>
            </a:r>
            <a:endParaRPr lang="en-US" sz="1300" dirty="0"/>
          </a:p>
          <a:p>
            <a:pPr indent="0" marL="0">
              <a:spcAft>
                <a:spcPts val="800"/>
              </a:spcAft>
              <a:buNone/>
            </a:pPr>
            <a:r>
              <a:rPr lang="en-US" sz="1300" b="1" dirty="0">
                <a:solidFill>
                  <a:schemeClr val="accent1"/>
                </a:solidFill>
              </a:rPr>
              <a:t>4/10: </a:t>
            </a:r>
            <a:pPr indent="0" marL="0">
              <a:spcAft>
                <a:spcPts val="800"/>
              </a:spcAft>
              <a:buNone/>
            </a:pPr>
            <a:r>
              <a:rPr lang="en-US" sz="1300" dirty="0">
                <a:solidFill>
                  <a:schemeClr val="tx1"/>
                </a:solidFill>
              </a:rPr>
              <a:t>vertrouwen eerst opbouwen → kennismaken, via bekenden, klein beginnen</a:t>
            </a:r>
            <a:endParaRPr lang="en-US" sz="1300" dirty="0"/>
          </a:p>
          <a:p>
            <a:pPr indent="0" marL="0">
              <a:spcAft>
                <a:spcPts val="800"/>
              </a:spcAft>
              <a:buNone/>
            </a:pPr>
            <a:r>
              <a:rPr lang="en-US" sz="1300" b="1" dirty="0">
                <a:solidFill>
                  <a:schemeClr val="accent1"/>
                </a:solidFill>
              </a:rPr>
              <a:t>4/10: </a:t>
            </a:r>
            <a:pPr indent="0" marL="0">
              <a:spcAft>
                <a:spcPts val="800"/>
              </a:spcAft>
              <a:buNone/>
            </a:pPr>
            <a:r>
              <a:rPr lang="en-US" sz="1300" dirty="0">
                <a:solidFill>
                  <a:schemeClr val="tx1"/>
                </a:solidFill>
              </a:rPr>
              <a:t>ergert zich aan opdringerige verkopers → eerlijk advies, geen upselling</a:t>
            </a:r>
            <a:endParaRPr lang="en-US" sz="1300" dirty="0"/>
          </a:p>
        </p:txBody>
      </p:sp>
      <p:sp>
        <p:nvSpPr>
          <p:cNvPr id="8" name="Shape 5"/>
          <p:cNvSpPr/>
          <p:nvPr/>
        </p:nvSpPr>
        <p:spPr>
          <a:xfrm>
            <a:off x="4709160" y="1051560"/>
            <a:ext cx="3977640" cy="3566160"/>
          </a:xfrm>
          <a:prstGeom prst="roundRect">
            <a:avLst>
              <a:gd name="adj" fmla="val 2051"/>
            </a:avLst>
          </a:prstGeom>
          <a:solidFill>
            <a:schemeClr val="tx1"/>
          </a:solidFill>
          <a:ln w="12700">
            <a:solidFill>
              <a:schemeClr val="tx1"/>
            </a:solidFill>
            <a:prstDash val="solid"/>
          </a:ln>
        </p:spPr>
      </p:sp>
      <p:sp>
        <p:nvSpPr>
          <p:cNvPr id="9" name="Shape 6"/>
          <p:cNvSpPr/>
          <p:nvPr/>
        </p:nvSpPr>
        <p:spPr>
          <a:xfrm>
            <a:off x="4892040" y="123444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5010912" y="1353312"/>
            <a:ext cx="219456" cy="219456"/>
          </a:xfrm>
          <a:prstGeom prst="rect">
            <a:avLst/>
          </a:prstGeom>
        </p:spPr>
      </p:pic>
      <p:sp>
        <p:nvSpPr>
          <p:cNvPr id="11" name="Text 7"/>
          <p:cNvSpPr txBox="1"/>
          <p:nvPr/>
        </p:nvSpPr>
        <p:spPr>
          <a:xfrm>
            <a:off x="5486400" y="1280160"/>
            <a:ext cx="3017520" cy="365760"/>
          </a:xfrm>
          <a:prstGeom prst="rect">
            <a:avLst/>
          </a:prstGeom>
          <a:noFill/>
          <a:ln/>
        </p:spPr>
        <p:txBody>
          <a:bodyPr wrap="square" lIns="0" tIns="0" rIns="0" bIns="0" rtlCol="0" anchor="ctr"/>
          <a:lstStyle/>
          <a:p>
            <a:pPr indent="0" marL="0">
              <a:buNone/>
            </a:pPr>
            <a:r>
              <a:rPr lang="en-US" sz="1600" b="1" dirty="0">
                <a:solidFill>
                  <a:schemeClr val="bg1"/>
                </a:solidFill>
              </a:rPr>
              <a:t>Wat dit betekent voor mij</a:t>
            </a:r>
            <a:endParaRPr lang="en-US" sz="1600" dirty="0"/>
          </a:p>
        </p:txBody>
      </p:sp>
      <p:sp>
        <p:nvSpPr>
          <p:cNvPr id="12" name="Text 8"/>
          <p:cNvSpPr txBox="1"/>
          <p:nvPr/>
        </p:nvSpPr>
        <p:spPr>
          <a:xfrm>
            <a:off x="4892040" y="182880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Ik interviewde luxe-kopers van 17–21; zij hebben nu vaak nog tijd genoeg</a:t>
            </a:r>
            <a:endParaRPr lang="en-US" sz="1300" dirty="0"/>
          </a:p>
          <a:p>
            <a:pPr marL="342900" indent="-342900">
              <a:spcAft>
                <a:spcPts val="600"/>
              </a:spcAft>
              <a:buSzPct val="100000"/>
              <a:buChar char="•"/>
            </a:pPr>
            <a:r>
              <a:rPr lang="en-US" sz="1300" dirty="0">
                <a:solidFill>
                  <a:schemeClr val="bg1"/>
                </a:solidFill>
              </a:rPr>
              <a:t>5/10 zegt zelf: “als ik fulltime werk of het bedrijf van mijn vader overneem, dan wel”</a:t>
            </a:r>
            <a:endParaRPr lang="en-US" sz="1300" dirty="0"/>
          </a:p>
          <a:p>
            <a:pPr marL="342900" indent="-342900">
              <a:spcAft>
                <a:spcPts val="600"/>
              </a:spcAft>
              <a:buSzPct val="100000"/>
              <a:buChar char="•"/>
            </a:pPr>
            <a:r>
              <a:rPr lang="en-US" sz="1300" dirty="0">
                <a:solidFill>
                  <a:schemeClr val="bg1"/>
                </a:solidFill>
              </a:rPr>
              <a:t>De behoefte groeit met drukte → bevestigt mijn focus op drukke werkende mannen</a:t>
            </a:r>
            <a:endParaRPr lang="en-US" sz="1300" dirty="0"/>
          </a:p>
          <a:p>
            <a:pPr marL="342900" indent="-342900">
              <a:spcAft>
                <a:spcPts val="600"/>
              </a:spcAft>
              <a:buSzPct val="100000"/>
              <a:buChar char="•"/>
            </a:pPr>
            <a:r>
              <a:rPr lang="en-US" sz="1300" dirty="0">
                <a:solidFill>
                  <a:schemeClr val="bg1"/>
                </a:solidFill>
              </a:rPr>
              <a:t>Volgende stap: ook interviews met mannen 30–55 met een drukke baan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Macro-omgeving: DESTEP</a:t>
            </a:r>
            <a:endParaRPr lang="en-US" sz="2600" dirty="0"/>
          </a:p>
        </p:txBody>
      </p:sp>
      <p:sp>
        <p:nvSpPr>
          <p:cNvPr id="3" name="Shape 1"/>
          <p:cNvSpPr/>
          <p:nvPr/>
        </p:nvSpPr>
        <p:spPr>
          <a:xfrm>
            <a:off x="457200" y="1005840"/>
            <a:ext cx="2615184" cy="1719072"/>
          </a:xfrm>
          <a:prstGeom prst="roundRect">
            <a:avLst>
              <a:gd name="adj" fmla="val 4255"/>
            </a:avLst>
          </a:prstGeom>
          <a:solidFill>
            <a:schemeClr val="bg2"/>
          </a:solidFill>
          <a:ln w="12700">
            <a:solidFill>
              <a:schemeClr val="bg2"/>
            </a:solidFill>
            <a:prstDash val="solid"/>
          </a:ln>
        </p:spPr>
      </p:sp>
      <p:sp>
        <p:nvSpPr>
          <p:cNvPr id="4" name="Shape 2"/>
          <p:cNvSpPr/>
          <p:nvPr/>
        </p:nvSpPr>
        <p:spPr>
          <a:xfrm>
            <a:off x="594360" y="1143000"/>
            <a:ext cx="411480" cy="4114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01345" y="1249985"/>
            <a:ext cx="197510" cy="197510"/>
          </a:xfrm>
          <a:prstGeom prst="rect">
            <a:avLst/>
          </a:prstGeom>
        </p:spPr>
      </p:pic>
      <p:sp>
        <p:nvSpPr>
          <p:cNvPr id="6" name="Text 3"/>
          <p:cNvSpPr txBox="1"/>
          <p:nvPr/>
        </p:nvSpPr>
        <p:spPr>
          <a:xfrm>
            <a:off x="1097280" y="1170432"/>
            <a:ext cx="1874520" cy="365760"/>
          </a:xfrm>
          <a:prstGeom prst="rect">
            <a:avLst/>
          </a:prstGeom>
          <a:noFill/>
          <a:ln/>
        </p:spPr>
        <p:txBody>
          <a:bodyPr wrap="square" lIns="0" tIns="0" rIns="0" bIns="0" rtlCol="0" anchor="ctr"/>
          <a:lstStyle/>
          <a:p>
            <a:pPr indent="0" marL="0">
              <a:buNone/>
            </a:pPr>
            <a:r>
              <a:rPr lang="en-US" sz="1400" b="1" dirty="0">
                <a:solidFill>
                  <a:schemeClr val="tx1"/>
                </a:solidFill>
              </a:rPr>
              <a:t>Demografisch</a:t>
            </a:r>
            <a:endParaRPr lang="en-US" sz="1400" dirty="0"/>
          </a:p>
        </p:txBody>
      </p:sp>
      <p:sp>
        <p:nvSpPr>
          <p:cNvPr id="7" name="Text 4"/>
          <p:cNvSpPr txBox="1"/>
          <p:nvPr/>
        </p:nvSpPr>
        <p:spPr>
          <a:xfrm>
            <a:off x="594360" y="1645920"/>
            <a:ext cx="2359152" cy="502920"/>
          </a:xfrm>
          <a:prstGeom prst="rect">
            <a:avLst/>
          </a:prstGeom>
          <a:noFill/>
          <a:ln/>
        </p:spPr>
        <p:txBody>
          <a:bodyPr wrap="square" lIns="0" tIns="0" rIns="0" bIns="0" rtlCol="0" anchor="t"/>
          <a:lstStyle/>
          <a:p>
            <a:pPr indent="0" marL="0">
              <a:buNone/>
            </a:pPr>
            <a:r>
              <a:rPr lang="en-US" sz="1100" dirty="0">
                <a:solidFill>
                  <a:schemeClr val="tx2"/>
                </a:solidFill>
              </a:rPr>
              <a:t>Bevolking groeit (20,6 mln in 2070), vergrijst en wordt diverser</a:t>
            </a:r>
            <a:endParaRPr lang="en-US" sz="1100" dirty="0"/>
          </a:p>
        </p:txBody>
      </p:sp>
      <p:sp>
        <p:nvSpPr>
          <p:cNvPr id="8" name="Text 5"/>
          <p:cNvSpPr txBox="1"/>
          <p:nvPr/>
        </p:nvSpPr>
        <p:spPr>
          <a:xfrm>
            <a:off x="594360" y="2176272"/>
            <a:ext cx="2359152" cy="502920"/>
          </a:xfrm>
          <a:prstGeom prst="rect">
            <a:avLst/>
          </a:prstGeom>
          <a:noFill/>
          <a:ln/>
        </p:spPr>
        <p:txBody>
          <a:bodyPr wrap="square" lIns="0" tIns="0" rIns="0" bIns="0" rtlCol="0" anchor="t"/>
          <a:lstStyle/>
          <a:p>
            <a:pPr indent="0" marL="0">
              <a:buNone/>
            </a:pPr>
            <a:r>
              <a:rPr lang="en-US" sz="1100" b="1" dirty="0">
                <a:solidFill>
                  <a:schemeClr val="accent1"/>
                </a:solidFill>
              </a:rPr>
              <a:t>→ </a:t>
            </a:r>
            <a:pPr indent="0" marL="0">
              <a:buNone/>
            </a:pPr>
            <a:r>
              <a:rPr lang="en-US" sz="1100" b="1" dirty="0">
                <a:solidFill>
                  <a:schemeClr val="tx1"/>
                </a:solidFill>
              </a:rPr>
              <a:t>Grotere, diverse doelgroep; ouderen als extra segment</a:t>
            </a:r>
            <a:endParaRPr lang="en-US" sz="1100" dirty="0"/>
          </a:p>
        </p:txBody>
      </p:sp>
      <p:sp>
        <p:nvSpPr>
          <p:cNvPr id="9" name="Shape 6"/>
          <p:cNvSpPr/>
          <p:nvPr/>
        </p:nvSpPr>
        <p:spPr>
          <a:xfrm>
            <a:off x="3264408" y="1005840"/>
            <a:ext cx="2615184" cy="1719072"/>
          </a:xfrm>
          <a:prstGeom prst="roundRect">
            <a:avLst>
              <a:gd name="adj" fmla="val 4255"/>
            </a:avLst>
          </a:prstGeom>
          <a:solidFill>
            <a:schemeClr val="bg2"/>
          </a:solidFill>
          <a:ln w="12700">
            <a:solidFill>
              <a:schemeClr val="bg2"/>
            </a:solidFill>
            <a:prstDash val="solid"/>
          </a:ln>
        </p:spPr>
      </p:sp>
      <p:sp>
        <p:nvSpPr>
          <p:cNvPr id="10" name="Shape 7"/>
          <p:cNvSpPr/>
          <p:nvPr/>
        </p:nvSpPr>
        <p:spPr>
          <a:xfrm>
            <a:off x="3401568" y="1143000"/>
            <a:ext cx="411480" cy="411480"/>
          </a:xfrm>
          <a:prstGeom prst="ellipse">
            <a:avLst/>
          </a:prstGeom>
          <a:solidFill>
            <a:schemeClr val="accent1"/>
          </a:solidFill>
          <a:ln w="12700">
            <a:solidFill>
              <a:schemeClr val="accent1"/>
            </a:solidFill>
            <a:prstDash val="solid"/>
          </a:ln>
        </p:spPr>
      </p:sp>
      <p:pic>
        <p:nvPicPr>
          <p:cNvPr id="11" name="Image 1" descr="preencoded.png">    </p:cNvPr>
          <p:cNvPicPr>
            <a:picLocks noChangeAspect="1"/>
          </p:cNvPicPr>
          <p:nvPr/>
        </p:nvPicPr>
        <p:blipFill>
          <a:blip r:embed="rId2"/>
          <a:stretch>
            <a:fillRect/>
          </a:stretch>
        </p:blipFill>
        <p:spPr>
          <a:xfrm>
            <a:off x="3508553" y="1249985"/>
            <a:ext cx="197510" cy="197510"/>
          </a:xfrm>
          <a:prstGeom prst="rect">
            <a:avLst/>
          </a:prstGeom>
        </p:spPr>
      </p:pic>
      <p:sp>
        <p:nvSpPr>
          <p:cNvPr id="12" name="Text 8"/>
          <p:cNvSpPr txBox="1"/>
          <p:nvPr/>
        </p:nvSpPr>
        <p:spPr>
          <a:xfrm>
            <a:off x="3904488" y="1170432"/>
            <a:ext cx="1874520" cy="365760"/>
          </a:xfrm>
          <a:prstGeom prst="rect">
            <a:avLst/>
          </a:prstGeom>
          <a:noFill/>
          <a:ln/>
        </p:spPr>
        <p:txBody>
          <a:bodyPr wrap="square" lIns="0" tIns="0" rIns="0" bIns="0" rtlCol="0" anchor="ctr"/>
          <a:lstStyle/>
          <a:p>
            <a:pPr indent="0" marL="0">
              <a:buNone/>
            </a:pPr>
            <a:r>
              <a:rPr lang="en-US" sz="1400" b="1" dirty="0">
                <a:solidFill>
                  <a:schemeClr val="tx1"/>
                </a:solidFill>
              </a:rPr>
              <a:t>Economisch</a:t>
            </a:r>
            <a:endParaRPr lang="en-US" sz="1400" dirty="0"/>
          </a:p>
        </p:txBody>
      </p:sp>
      <p:sp>
        <p:nvSpPr>
          <p:cNvPr id="13" name="Text 9"/>
          <p:cNvSpPr txBox="1"/>
          <p:nvPr/>
        </p:nvSpPr>
        <p:spPr>
          <a:xfrm>
            <a:off x="3401568" y="1645920"/>
            <a:ext cx="2359152" cy="502920"/>
          </a:xfrm>
          <a:prstGeom prst="rect">
            <a:avLst/>
          </a:prstGeom>
          <a:noFill/>
          <a:ln/>
        </p:spPr>
        <p:txBody>
          <a:bodyPr wrap="square" lIns="0" tIns="0" rIns="0" bIns="0" rtlCol="0" anchor="t"/>
          <a:lstStyle/>
          <a:p>
            <a:pPr indent="0" marL="0">
              <a:buNone/>
            </a:pPr>
            <a:r>
              <a:rPr lang="en-US" sz="1100" dirty="0">
                <a:solidFill>
                  <a:schemeClr val="tx2"/>
                </a:solidFill>
              </a:rPr>
              <a:t>Bbp +1,6% op jaarbasis, koopkracht +0,7%</a:t>
            </a:r>
            <a:endParaRPr lang="en-US" sz="1100" dirty="0"/>
          </a:p>
        </p:txBody>
      </p:sp>
      <p:sp>
        <p:nvSpPr>
          <p:cNvPr id="14" name="Text 10"/>
          <p:cNvSpPr txBox="1"/>
          <p:nvPr/>
        </p:nvSpPr>
        <p:spPr>
          <a:xfrm>
            <a:off x="3401568" y="2176272"/>
            <a:ext cx="2359152" cy="502920"/>
          </a:xfrm>
          <a:prstGeom prst="rect">
            <a:avLst/>
          </a:prstGeom>
          <a:noFill/>
          <a:ln/>
        </p:spPr>
        <p:txBody>
          <a:bodyPr wrap="square" lIns="0" tIns="0" rIns="0" bIns="0" rtlCol="0" anchor="t"/>
          <a:lstStyle/>
          <a:p>
            <a:pPr indent="0" marL="0">
              <a:buNone/>
            </a:pPr>
            <a:r>
              <a:rPr lang="en-US" sz="1100" b="1" dirty="0">
                <a:solidFill>
                  <a:schemeClr val="accent1"/>
                </a:solidFill>
              </a:rPr>
              <a:t>→ </a:t>
            </a:r>
            <a:pPr indent="0" marL="0">
              <a:buNone/>
            </a:pPr>
            <a:r>
              <a:rPr lang="en-US" sz="1100" b="1" dirty="0">
                <a:solidFill>
                  <a:schemeClr val="tx1"/>
                </a:solidFill>
              </a:rPr>
              <a:t>Ruimte voor ‘gemak’-diensten; risico: eerste bezuinigingspost</a:t>
            </a:r>
            <a:endParaRPr lang="en-US" sz="1100" dirty="0"/>
          </a:p>
        </p:txBody>
      </p:sp>
      <p:sp>
        <p:nvSpPr>
          <p:cNvPr id="15" name="Shape 11"/>
          <p:cNvSpPr/>
          <p:nvPr/>
        </p:nvSpPr>
        <p:spPr>
          <a:xfrm>
            <a:off x="6071616" y="1005840"/>
            <a:ext cx="2615184" cy="1719072"/>
          </a:xfrm>
          <a:prstGeom prst="roundRect">
            <a:avLst>
              <a:gd name="adj" fmla="val 4255"/>
            </a:avLst>
          </a:prstGeom>
          <a:solidFill>
            <a:schemeClr val="bg2"/>
          </a:solidFill>
          <a:ln w="12700">
            <a:solidFill>
              <a:schemeClr val="bg2"/>
            </a:solidFill>
            <a:prstDash val="solid"/>
          </a:ln>
        </p:spPr>
      </p:sp>
      <p:sp>
        <p:nvSpPr>
          <p:cNvPr id="16" name="Shape 12"/>
          <p:cNvSpPr/>
          <p:nvPr/>
        </p:nvSpPr>
        <p:spPr>
          <a:xfrm>
            <a:off x="6208776" y="1143000"/>
            <a:ext cx="411480" cy="411480"/>
          </a:xfrm>
          <a:prstGeom prst="ellipse">
            <a:avLst/>
          </a:prstGeom>
          <a:solidFill>
            <a:schemeClr val="accent1"/>
          </a:solidFill>
          <a:ln w="12700">
            <a:solidFill>
              <a:schemeClr val="accent1"/>
            </a:solidFill>
            <a:prstDash val="solid"/>
          </a:ln>
        </p:spPr>
      </p:sp>
      <p:pic>
        <p:nvPicPr>
          <p:cNvPr id="17" name="Image 2" descr="preencoded.png">    </p:cNvPr>
          <p:cNvPicPr>
            <a:picLocks noChangeAspect="1"/>
          </p:cNvPicPr>
          <p:nvPr/>
        </p:nvPicPr>
        <p:blipFill>
          <a:blip r:embed="rId3"/>
          <a:stretch>
            <a:fillRect/>
          </a:stretch>
        </p:blipFill>
        <p:spPr>
          <a:xfrm>
            <a:off x="6315761" y="1249985"/>
            <a:ext cx="197510" cy="197510"/>
          </a:xfrm>
          <a:prstGeom prst="rect">
            <a:avLst/>
          </a:prstGeom>
        </p:spPr>
      </p:pic>
      <p:sp>
        <p:nvSpPr>
          <p:cNvPr id="18" name="Text 13"/>
          <p:cNvSpPr txBox="1"/>
          <p:nvPr/>
        </p:nvSpPr>
        <p:spPr>
          <a:xfrm>
            <a:off x="6711696" y="1170432"/>
            <a:ext cx="1874520" cy="365760"/>
          </a:xfrm>
          <a:prstGeom prst="rect">
            <a:avLst/>
          </a:prstGeom>
          <a:noFill/>
          <a:ln/>
        </p:spPr>
        <p:txBody>
          <a:bodyPr wrap="square" lIns="0" tIns="0" rIns="0" bIns="0" rtlCol="0" anchor="ctr"/>
          <a:lstStyle/>
          <a:p>
            <a:pPr indent="0" marL="0">
              <a:buNone/>
            </a:pPr>
            <a:r>
              <a:rPr lang="en-US" sz="1400" b="1" dirty="0">
                <a:solidFill>
                  <a:schemeClr val="tx1"/>
                </a:solidFill>
              </a:rPr>
              <a:t>Sociaal-cultureel</a:t>
            </a:r>
            <a:endParaRPr lang="en-US" sz="1400" dirty="0"/>
          </a:p>
        </p:txBody>
      </p:sp>
      <p:sp>
        <p:nvSpPr>
          <p:cNvPr id="19" name="Text 14"/>
          <p:cNvSpPr txBox="1"/>
          <p:nvPr/>
        </p:nvSpPr>
        <p:spPr>
          <a:xfrm>
            <a:off x="6208776" y="1645920"/>
            <a:ext cx="2359152" cy="502920"/>
          </a:xfrm>
          <a:prstGeom prst="rect">
            <a:avLst/>
          </a:prstGeom>
          <a:noFill/>
          <a:ln/>
        </p:spPr>
        <p:txBody>
          <a:bodyPr wrap="square" lIns="0" tIns="0" rIns="0" bIns="0" rtlCol="0" anchor="t"/>
          <a:lstStyle/>
          <a:p>
            <a:pPr indent="0" marL="0">
              <a:buNone/>
            </a:pPr>
            <a:r>
              <a:rPr lang="en-US" sz="1100" dirty="0">
                <a:solidFill>
                  <a:schemeClr val="tx2"/>
                </a:solidFill>
              </a:rPr>
              <a:t>Hoge werkdruk en burn-out, minder vertrouwen in online info</a:t>
            </a:r>
            <a:endParaRPr lang="en-US" sz="1100" dirty="0"/>
          </a:p>
        </p:txBody>
      </p:sp>
      <p:sp>
        <p:nvSpPr>
          <p:cNvPr id="20" name="Text 15"/>
          <p:cNvSpPr txBox="1"/>
          <p:nvPr/>
        </p:nvSpPr>
        <p:spPr>
          <a:xfrm>
            <a:off x="6208776" y="2176272"/>
            <a:ext cx="2359152" cy="502920"/>
          </a:xfrm>
          <a:prstGeom prst="rect">
            <a:avLst/>
          </a:prstGeom>
          <a:noFill/>
          <a:ln/>
        </p:spPr>
        <p:txBody>
          <a:bodyPr wrap="square" lIns="0" tIns="0" rIns="0" bIns="0" rtlCol="0" anchor="t"/>
          <a:lstStyle/>
          <a:p>
            <a:pPr indent="0" marL="0">
              <a:buNone/>
            </a:pPr>
            <a:r>
              <a:rPr lang="en-US" sz="1100" b="1" dirty="0">
                <a:solidFill>
                  <a:schemeClr val="accent1"/>
                </a:solidFill>
              </a:rPr>
              <a:t>→ </a:t>
            </a:r>
            <a:pPr indent="0" marL="0">
              <a:buNone/>
            </a:pPr>
            <a:r>
              <a:rPr lang="en-US" sz="1100" b="1" dirty="0">
                <a:solidFill>
                  <a:schemeClr val="tx1"/>
                </a:solidFill>
              </a:rPr>
              <a:t>Behoefte aan echt, persoonlijk en eerlijk advies</a:t>
            </a:r>
            <a:endParaRPr lang="en-US" sz="1100" dirty="0"/>
          </a:p>
        </p:txBody>
      </p:sp>
      <p:sp>
        <p:nvSpPr>
          <p:cNvPr id="21" name="Shape 16"/>
          <p:cNvSpPr/>
          <p:nvPr/>
        </p:nvSpPr>
        <p:spPr>
          <a:xfrm>
            <a:off x="457200" y="2862072"/>
            <a:ext cx="2615184" cy="1719072"/>
          </a:xfrm>
          <a:prstGeom prst="roundRect">
            <a:avLst>
              <a:gd name="adj" fmla="val 4255"/>
            </a:avLst>
          </a:prstGeom>
          <a:solidFill>
            <a:schemeClr val="bg2"/>
          </a:solidFill>
          <a:ln w="12700">
            <a:solidFill>
              <a:schemeClr val="bg2"/>
            </a:solidFill>
            <a:prstDash val="solid"/>
          </a:ln>
        </p:spPr>
      </p:sp>
      <p:sp>
        <p:nvSpPr>
          <p:cNvPr id="22" name="Shape 17"/>
          <p:cNvSpPr/>
          <p:nvPr/>
        </p:nvSpPr>
        <p:spPr>
          <a:xfrm>
            <a:off x="594360" y="2999232"/>
            <a:ext cx="411480" cy="411480"/>
          </a:xfrm>
          <a:prstGeom prst="ellipse">
            <a:avLst/>
          </a:prstGeom>
          <a:solidFill>
            <a:schemeClr val="accent1"/>
          </a:solidFill>
          <a:ln w="12700">
            <a:solidFill>
              <a:schemeClr val="accent1"/>
            </a:solidFill>
            <a:prstDash val="solid"/>
          </a:ln>
        </p:spPr>
      </p:sp>
      <p:pic>
        <p:nvPicPr>
          <p:cNvPr id="23" name="Image 3" descr="preencoded.png">    </p:cNvPr>
          <p:cNvPicPr>
            <a:picLocks noChangeAspect="1"/>
          </p:cNvPicPr>
          <p:nvPr/>
        </p:nvPicPr>
        <p:blipFill>
          <a:blip r:embed="rId4"/>
          <a:stretch>
            <a:fillRect/>
          </a:stretch>
        </p:blipFill>
        <p:spPr>
          <a:xfrm>
            <a:off x="701345" y="3106217"/>
            <a:ext cx="197510" cy="197510"/>
          </a:xfrm>
          <a:prstGeom prst="rect">
            <a:avLst/>
          </a:prstGeom>
        </p:spPr>
      </p:pic>
      <p:sp>
        <p:nvSpPr>
          <p:cNvPr id="24" name="Text 18"/>
          <p:cNvSpPr txBox="1"/>
          <p:nvPr/>
        </p:nvSpPr>
        <p:spPr>
          <a:xfrm>
            <a:off x="1097280" y="3026664"/>
            <a:ext cx="1874520" cy="365760"/>
          </a:xfrm>
          <a:prstGeom prst="rect">
            <a:avLst/>
          </a:prstGeom>
          <a:noFill/>
          <a:ln/>
        </p:spPr>
        <p:txBody>
          <a:bodyPr wrap="square" lIns="0" tIns="0" rIns="0" bIns="0" rtlCol="0" anchor="ctr"/>
          <a:lstStyle/>
          <a:p>
            <a:pPr indent="0" marL="0">
              <a:buNone/>
            </a:pPr>
            <a:r>
              <a:rPr lang="en-US" sz="1400" b="1" dirty="0">
                <a:solidFill>
                  <a:schemeClr val="tx1"/>
                </a:solidFill>
              </a:rPr>
              <a:t>Technologisch</a:t>
            </a:r>
            <a:endParaRPr lang="en-US" sz="1400" dirty="0"/>
          </a:p>
        </p:txBody>
      </p:sp>
      <p:sp>
        <p:nvSpPr>
          <p:cNvPr id="25" name="Text 19"/>
          <p:cNvSpPr txBox="1"/>
          <p:nvPr/>
        </p:nvSpPr>
        <p:spPr>
          <a:xfrm>
            <a:off x="594360" y="3502152"/>
            <a:ext cx="2359152" cy="502920"/>
          </a:xfrm>
          <a:prstGeom prst="rect">
            <a:avLst/>
          </a:prstGeom>
          <a:noFill/>
          <a:ln/>
        </p:spPr>
        <p:txBody>
          <a:bodyPr wrap="square" lIns="0" tIns="0" rIns="0" bIns="0" rtlCol="0" anchor="t"/>
          <a:lstStyle/>
          <a:p>
            <a:pPr indent="0" marL="0">
              <a:buNone/>
            </a:pPr>
            <a:r>
              <a:rPr lang="en-US" sz="1100" dirty="0">
                <a:solidFill>
                  <a:schemeClr val="tx2"/>
                </a:solidFill>
              </a:rPr>
              <a:t>AI en 5G veranderen winkelen en advies</a:t>
            </a:r>
            <a:endParaRPr lang="en-US" sz="1100" dirty="0"/>
          </a:p>
        </p:txBody>
      </p:sp>
      <p:sp>
        <p:nvSpPr>
          <p:cNvPr id="26" name="Text 20"/>
          <p:cNvSpPr txBox="1"/>
          <p:nvPr/>
        </p:nvSpPr>
        <p:spPr>
          <a:xfrm>
            <a:off x="594360" y="4032504"/>
            <a:ext cx="2359152" cy="502920"/>
          </a:xfrm>
          <a:prstGeom prst="rect">
            <a:avLst/>
          </a:prstGeom>
          <a:noFill/>
          <a:ln/>
        </p:spPr>
        <p:txBody>
          <a:bodyPr wrap="square" lIns="0" tIns="0" rIns="0" bIns="0" rtlCol="0" anchor="t"/>
          <a:lstStyle/>
          <a:p>
            <a:pPr indent="0" marL="0">
              <a:buNone/>
            </a:pPr>
            <a:r>
              <a:rPr lang="en-US" sz="1100" b="1" dirty="0">
                <a:solidFill>
                  <a:schemeClr val="accent1"/>
                </a:solidFill>
              </a:rPr>
              <a:t>→ </a:t>
            </a:r>
            <a:pPr indent="0" marL="0">
              <a:buNone/>
            </a:pPr>
            <a:r>
              <a:rPr lang="en-US" sz="1100" b="1" dirty="0">
                <a:solidFill>
                  <a:schemeClr val="tx1"/>
                </a:solidFill>
              </a:rPr>
              <a:t>AI-stylingapps zijn concurrent én hulpmiddel</a:t>
            </a:r>
            <a:endParaRPr lang="en-US" sz="1100" dirty="0"/>
          </a:p>
        </p:txBody>
      </p:sp>
      <p:sp>
        <p:nvSpPr>
          <p:cNvPr id="27" name="Shape 21"/>
          <p:cNvSpPr/>
          <p:nvPr/>
        </p:nvSpPr>
        <p:spPr>
          <a:xfrm>
            <a:off x="3264408" y="2862072"/>
            <a:ext cx="2615184" cy="1719072"/>
          </a:xfrm>
          <a:prstGeom prst="roundRect">
            <a:avLst>
              <a:gd name="adj" fmla="val 4255"/>
            </a:avLst>
          </a:prstGeom>
          <a:solidFill>
            <a:schemeClr val="bg2"/>
          </a:solidFill>
          <a:ln w="12700">
            <a:solidFill>
              <a:schemeClr val="bg2"/>
            </a:solidFill>
            <a:prstDash val="solid"/>
          </a:ln>
        </p:spPr>
      </p:sp>
      <p:sp>
        <p:nvSpPr>
          <p:cNvPr id="28" name="Shape 22"/>
          <p:cNvSpPr/>
          <p:nvPr/>
        </p:nvSpPr>
        <p:spPr>
          <a:xfrm>
            <a:off x="3401568" y="2999232"/>
            <a:ext cx="411480" cy="411480"/>
          </a:xfrm>
          <a:prstGeom prst="ellipse">
            <a:avLst/>
          </a:prstGeom>
          <a:solidFill>
            <a:schemeClr val="accent1"/>
          </a:solidFill>
          <a:ln w="12700">
            <a:solidFill>
              <a:schemeClr val="accent1"/>
            </a:solidFill>
            <a:prstDash val="solid"/>
          </a:ln>
        </p:spPr>
      </p:sp>
      <p:pic>
        <p:nvPicPr>
          <p:cNvPr id="29" name="Image 4" descr="preencoded.png">    </p:cNvPr>
          <p:cNvPicPr>
            <a:picLocks noChangeAspect="1"/>
          </p:cNvPicPr>
          <p:nvPr/>
        </p:nvPicPr>
        <p:blipFill>
          <a:blip r:embed="rId5"/>
          <a:stretch>
            <a:fillRect/>
          </a:stretch>
        </p:blipFill>
        <p:spPr>
          <a:xfrm>
            <a:off x="3508553" y="3106217"/>
            <a:ext cx="197510" cy="197510"/>
          </a:xfrm>
          <a:prstGeom prst="rect">
            <a:avLst/>
          </a:prstGeom>
        </p:spPr>
      </p:pic>
      <p:sp>
        <p:nvSpPr>
          <p:cNvPr id="30" name="Text 23"/>
          <p:cNvSpPr txBox="1"/>
          <p:nvPr/>
        </p:nvSpPr>
        <p:spPr>
          <a:xfrm>
            <a:off x="3904488" y="3026664"/>
            <a:ext cx="1874520" cy="365760"/>
          </a:xfrm>
          <a:prstGeom prst="rect">
            <a:avLst/>
          </a:prstGeom>
          <a:noFill/>
          <a:ln/>
        </p:spPr>
        <p:txBody>
          <a:bodyPr wrap="square" lIns="0" tIns="0" rIns="0" bIns="0" rtlCol="0" anchor="ctr"/>
          <a:lstStyle/>
          <a:p>
            <a:pPr indent="0" marL="0">
              <a:buNone/>
            </a:pPr>
            <a:r>
              <a:rPr lang="en-US" sz="1400" b="1" dirty="0">
                <a:solidFill>
                  <a:schemeClr val="tx1"/>
                </a:solidFill>
              </a:rPr>
              <a:t>Ecologisch</a:t>
            </a:r>
            <a:endParaRPr lang="en-US" sz="1400" dirty="0"/>
          </a:p>
        </p:txBody>
      </p:sp>
      <p:sp>
        <p:nvSpPr>
          <p:cNvPr id="31" name="Text 24"/>
          <p:cNvSpPr txBox="1"/>
          <p:nvPr/>
        </p:nvSpPr>
        <p:spPr>
          <a:xfrm>
            <a:off x="3401568" y="3502152"/>
            <a:ext cx="2359152" cy="502920"/>
          </a:xfrm>
          <a:prstGeom prst="rect">
            <a:avLst/>
          </a:prstGeom>
          <a:noFill/>
          <a:ln/>
        </p:spPr>
        <p:txBody>
          <a:bodyPr wrap="square" lIns="0" tIns="0" rIns="0" bIns="0" rtlCol="0" anchor="t"/>
          <a:lstStyle/>
          <a:p>
            <a:pPr indent="0" marL="0">
              <a:buNone/>
            </a:pPr>
            <a:r>
              <a:rPr lang="en-US" sz="1100" dirty="0">
                <a:solidFill>
                  <a:schemeClr val="tx2"/>
                </a:solidFill>
              </a:rPr>
              <a:t>Fast fashion vervuilt, Green Deal, aandacht voor duurzaam</a:t>
            </a:r>
            <a:endParaRPr lang="en-US" sz="1100" dirty="0"/>
          </a:p>
        </p:txBody>
      </p:sp>
      <p:sp>
        <p:nvSpPr>
          <p:cNvPr id="32" name="Text 25"/>
          <p:cNvSpPr txBox="1"/>
          <p:nvPr/>
        </p:nvSpPr>
        <p:spPr>
          <a:xfrm>
            <a:off x="3401568" y="4032504"/>
            <a:ext cx="2359152" cy="502920"/>
          </a:xfrm>
          <a:prstGeom prst="rect">
            <a:avLst/>
          </a:prstGeom>
          <a:noFill/>
          <a:ln/>
        </p:spPr>
        <p:txBody>
          <a:bodyPr wrap="square" lIns="0" tIns="0" rIns="0" bIns="0" rtlCol="0" anchor="t"/>
          <a:lstStyle/>
          <a:p>
            <a:pPr indent="0" marL="0">
              <a:buNone/>
            </a:pPr>
            <a:r>
              <a:rPr lang="en-US" sz="1100" b="1" dirty="0">
                <a:solidFill>
                  <a:schemeClr val="accent1"/>
                </a:solidFill>
              </a:rPr>
              <a:t>→ </a:t>
            </a:r>
            <a:pPr indent="0" marL="0">
              <a:buNone/>
            </a:pPr>
            <a:r>
              <a:rPr lang="en-US" sz="1100" b="1" dirty="0">
                <a:solidFill>
                  <a:schemeClr val="tx1"/>
                </a:solidFill>
              </a:rPr>
              <a:t>Kans: minder maar beter kopen, kast hergebruiken</a:t>
            </a:r>
            <a:endParaRPr lang="en-US" sz="1100" dirty="0"/>
          </a:p>
        </p:txBody>
      </p:sp>
      <p:sp>
        <p:nvSpPr>
          <p:cNvPr id="33" name="Shape 26"/>
          <p:cNvSpPr/>
          <p:nvPr/>
        </p:nvSpPr>
        <p:spPr>
          <a:xfrm>
            <a:off x="6071616" y="2862072"/>
            <a:ext cx="2615184" cy="1719072"/>
          </a:xfrm>
          <a:prstGeom prst="roundRect">
            <a:avLst>
              <a:gd name="adj" fmla="val 4255"/>
            </a:avLst>
          </a:prstGeom>
          <a:solidFill>
            <a:schemeClr val="bg2"/>
          </a:solidFill>
          <a:ln w="12700">
            <a:solidFill>
              <a:schemeClr val="bg2"/>
            </a:solidFill>
            <a:prstDash val="solid"/>
          </a:ln>
        </p:spPr>
      </p:sp>
      <p:sp>
        <p:nvSpPr>
          <p:cNvPr id="34" name="Shape 27"/>
          <p:cNvSpPr/>
          <p:nvPr/>
        </p:nvSpPr>
        <p:spPr>
          <a:xfrm>
            <a:off x="6208776" y="2999232"/>
            <a:ext cx="411480" cy="411480"/>
          </a:xfrm>
          <a:prstGeom prst="ellipse">
            <a:avLst/>
          </a:prstGeom>
          <a:solidFill>
            <a:schemeClr val="accent1"/>
          </a:solidFill>
          <a:ln w="12700">
            <a:solidFill>
              <a:schemeClr val="accent1"/>
            </a:solidFill>
            <a:prstDash val="solid"/>
          </a:ln>
        </p:spPr>
      </p:sp>
      <p:pic>
        <p:nvPicPr>
          <p:cNvPr id="35" name="Image 5" descr="preencoded.png">    </p:cNvPr>
          <p:cNvPicPr>
            <a:picLocks noChangeAspect="1"/>
          </p:cNvPicPr>
          <p:nvPr/>
        </p:nvPicPr>
        <p:blipFill>
          <a:blip r:embed="rId6"/>
          <a:stretch>
            <a:fillRect/>
          </a:stretch>
        </p:blipFill>
        <p:spPr>
          <a:xfrm>
            <a:off x="6315761" y="3106217"/>
            <a:ext cx="197510" cy="197510"/>
          </a:xfrm>
          <a:prstGeom prst="rect">
            <a:avLst/>
          </a:prstGeom>
        </p:spPr>
      </p:pic>
      <p:sp>
        <p:nvSpPr>
          <p:cNvPr id="36" name="Text 28"/>
          <p:cNvSpPr txBox="1"/>
          <p:nvPr/>
        </p:nvSpPr>
        <p:spPr>
          <a:xfrm>
            <a:off x="6711696" y="3026664"/>
            <a:ext cx="1874520" cy="365760"/>
          </a:xfrm>
          <a:prstGeom prst="rect">
            <a:avLst/>
          </a:prstGeom>
          <a:noFill/>
          <a:ln/>
        </p:spPr>
        <p:txBody>
          <a:bodyPr wrap="square" lIns="0" tIns="0" rIns="0" bIns="0" rtlCol="0" anchor="ctr"/>
          <a:lstStyle/>
          <a:p>
            <a:pPr indent="0" marL="0">
              <a:buNone/>
            </a:pPr>
            <a:r>
              <a:rPr lang="en-US" sz="1400" b="1" dirty="0">
                <a:solidFill>
                  <a:schemeClr val="tx1"/>
                </a:solidFill>
              </a:rPr>
              <a:t>Politiek-juridisch</a:t>
            </a:r>
            <a:endParaRPr lang="en-US" sz="1400" dirty="0"/>
          </a:p>
        </p:txBody>
      </p:sp>
      <p:sp>
        <p:nvSpPr>
          <p:cNvPr id="37" name="Text 29"/>
          <p:cNvSpPr txBox="1"/>
          <p:nvPr/>
        </p:nvSpPr>
        <p:spPr>
          <a:xfrm>
            <a:off x="6208776" y="3502152"/>
            <a:ext cx="2359152" cy="502920"/>
          </a:xfrm>
          <a:prstGeom prst="rect">
            <a:avLst/>
          </a:prstGeom>
          <a:noFill/>
          <a:ln/>
        </p:spPr>
        <p:txBody>
          <a:bodyPr wrap="square" lIns="0" tIns="0" rIns="0" bIns="0" rtlCol="0" anchor="t"/>
          <a:lstStyle/>
          <a:p>
            <a:pPr indent="0" marL="0">
              <a:buNone/>
            </a:pPr>
            <a:r>
              <a:rPr lang="en-US" sz="1100" dirty="0">
                <a:solidFill>
                  <a:schemeClr val="tx2"/>
                </a:solidFill>
              </a:rPr>
              <a:t>AVG en de Europese AI-wet</a:t>
            </a:r>
            <a:endParaRPr lang="en-US" sz="1100" dirty="0"/>
          </a:p>
        </p:txBody>
      </p:sp>
      <p:sp>
        <p:nvSpPr>
          <p:cNvPr id="38" name="Text 30"/>
          <p:cNvSpPr txBox="1"/>
          <p:nvPr/>
        </p:nvSpPr>
        <p:spPr>
          <a:xfrm>
            <a:off x="6208776" y="4032504"/>
            <a:ext cx="2359152" cy="502920"/>
          </a:xfrm>
          <a:prstGeom prst="rect">
            <a:avLst/>
          </a:prstGeom>
          <a:noFill/>
          <a:ln/>
        </p:spPr>
        <p:txBody>
          <a:bodyPr wrap="square" lIns="0" tIns="0" rIns="0" bIns="0" rtlCol="0" anchor="t"/>
          <a:lstStyle/>
          <a:p>
            <a:pPr indent="0" marL="0">
              <a:buNone/>
            </a:pPr>
            <a:r>
              <a:rPr lang="en-US" sz="1100" b="1" dirty="0">
                <a:solidFill>
                  <a:schemeClr val="accent1"/>
                </a:solidFill>
              </a:rPr>
              <a:t>→ </a:t>
            </a:r>
            <a:pPr indent="0" marL="0">
              <a:buNone/>
            </a:pPr>
            <a:r>
              <a:rPr lang="en-US" sz="1100" b="1" dirty="0">
                <a:solidFill>
                  <a:schemeClr val="tx1"/>
                </a:solidFill>
              </a:rPr>
              <a:t>Zorgvuldig met maten en foto’s, open over AI-gebruik</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Markt en concurrentie</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394960" cy="914400"/>
        </p:xfrm>
        <a:graphic>
          <a:graphicData uri="http://schemas.openxmlformats.org/drawingml/2006/table">
            <a:tbl>
              <a:tblPr/>
              <a:tblGrid>
                <a:gridCol w="1600200"/>
                <a:gridCol w="1325880"/>
                <a:gridCol w="2468880"/>
              </a:tblGrid>
              <a:tr h="438912">
                <a:tc>
                  <a:txBody>
                    <a:bodyPr/>
                    <a:lstStyle/>
                    <a:p>
                      <a:pPr indent="0" marL="0">
                        <a:buNone/>
                      </a:pPr>
                      <a:r>
                        <a:rPr lang="en-US" sz="1100" b="1" dirty="0">
                          <a:solidFill>
                            <a:schemeClr val="bg1"/>
                          </a:solidFill>
                        </a:rPr>
                        <a:t>Aanbieder</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Prijs</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Waar Double F beter is</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r>
              <a:tr h="438912">
                <a:tc>
                  <a:txBody>
                    <a:bodyPr/>
                    <a:lstStyle/>
                    <a:p>
                      <a:pPr indent="0" marL="0">
                        <a:buNone/>
                      </a:pPr>
                      <a:r>
                        <a:rPr lang="en-US" sz="1100" b="1" dirty="0">
                          <a:solidFill>
                            <a:schemeClr val="accent1"/>
                          </a:solidFill>
                        </a:rPr>
                        <a:t>Double F</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€ 75–249</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1"/>
                          </a:solidFill>
                        </a:rPr>
                        <a:t>Persoonlijk, alleen mannen, meerdere winkels</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438912">
                <a:tc>
                  <a:txBody>
                    <a:bodyPr/>
                    <a:lstStyle/>
                    <a:p>
                      <a:pPr indent="0" marL="0">
                        <a:buNone/>
                      </a:pPr>
                      <a:r>
                        <a:rPr lang="en-US" sz="1100" dirty="0">
                          <a:solidFill>
                            <a:schemeClr val="tx1"/>
                          </a:solidFill>
                        </a:rPr>
                        <a:t>Designer Outlet Roermond</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€ 295 / 3 uur</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Niet aan één locatie gebonden, eerst kastcheck</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438912">
                <a:tc>
                  <a:txBody>
                    <a:bodyPr/>
                    <a:lstStyle/>
                    <a:p>
                      <a:pPr indent="0" marL="0">
                        <a:buNone/>
                      </a:pPr>
                      <a:r>
                        <a:rPr lang="en-US" sz="1100" dirty="0">
                          <a:solidFill>
                            <a:schemeClr val="tx1"/>
                          </a:solidFill>
                        </a:rPr>
                        <a:t>De Bijenkorf</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Gratis bij aankoop</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Onafhankelijk, niet gericht op verkoop</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438912">
                <a:tc>
                  <a:txBody>
                    <a:bodyPr/>
                    <a:lstStyle/>
                    <a:p>
                      <a:pPr indent="0" marL="0">
                        <a:buNone/>
                      </a:pPr>
                      <a:r>
                        <a:rPr lang="en-US" sz="1100" dirty="0">
                          <a:solidFill>
                            <a:schemeClr val="tx1"/>
                          </a:solidFill>
                        </a:rPr>
                        <a:t>Outfittery</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Betalen wat je houdt</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Persoonlijk contact, geen retourgedoe</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438912">
                <a:tc>
                  <a:txBody>
                    <a:bodyPr/>
                    <a:lstStyle/>
                    <a:p>
                      <a:pPr indent="0" marL="0">
                        <a:buNone/>
                      </a:pPr>
                      <a:r>
                        <a:rPr lang="en-US" sz="1100" dirty="0">
                          <a:solidFill>
                            <a:schemeClr val="tx1"/>
                          </a:solidFill>
                        </a:rPr>
                        <a:t>Zelfstandige stylisten</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Op aanvraag</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Gespecialiseerd in mannen, duidelijke prijzen</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438912">
                <a:tc>
                  <a:txBody>
                    <a:bodyPr/>
                    <a:lstStyle/>
                    <a:p>
                      <a:pPr indent="0" marL="0">
                        <a:buNone/>
                      </a:pPr>
                      <a:r>
                        <a:rPr lang="en-US" sz="1100" dirty="0">
                          <a:solidFill>
                            <a:schemeClr val="tx1"/>
                          </a:solidFill>
                        </a:rPr>
                        <a:t>Zalando AI-assistent</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Gratis</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Echt passen, echte kast, eerlijk advies</a:t>
                      </a:r>
                      <a:endParaRPr lang="en-US" sz="11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bl>
          </a:graphicData>
        </a:graphic>
      </p:graphicFrame>
      <p:sp>
        <p:nvSpPr>
          <p:cNvPr id="4" name="Shape 1"/>
          <p:cNvSpPr/>
          <p:nvPr/>
        </p:nvSpPr>
        <p:spPr>
          <a:xfrm>
            <a:off x="6126480" y="1051560"/>
            <a:ext cx="2560320" cy="1051560"/>
          </a:xfrm>
          <a:prstGeom prst="roundRect">
            <a:avLst>
              <a:gd name="adj" fmla="val 6957"/>
            </a:avLst>
          </a:prstGeom>
          <a:solidFill>
            <a:schemeClr val="bg2"/>
          </a:solidFill>
          <a:ln w="12700">
            <a:solidFill>
              <a:schemeClr val="bg2"/>
            </a:solidFill>
            <a:prstDash val="solid"/>
          </a:ln>
        </p:spPr>
      </p:sp>
      <p:sp>
        <p:nvSpPr>
          <p:cNvPr id="5" name="Text 2"/>
          <p:cNvSpPr txBox="1"/>
          <p:nvPr/>
        </p:nvSpPr>
        <p:spPr>
          <a:xfrm>
            <a:off x="6309360" y="1115568"/>
            <a:ext cx="219456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€ 10 mld</a:t>
            </a:r>
            <a:endParaRPr lang="en-US" sz="2600" dirty="0"/>
          </a:p>
        </p:txBody>
      </p:sp>
      <p:sp>
        <p:nvSpPr>
          <p:cNvPr id="6" name="Text 3"/>
          <p:cNvSpPr txBox="1"/>
          <p:nvPr/>
        </p:nvSpPr>
        <p:spPr>
          <a:xfrm>
            <a:off x="6309360" y="1600200"/>
            <a:ext cx="2240280" cy="457200"/>
          </a:xfrm>
          <a:prstGeom prst="rect">
            <a:avLst/>
          </a:prstGeom>
          <a:noFill/>
          <a:ln/>
        </p:spPr>
        <p:txBody>
          <a:bodyPr wrap="square" lIns="0" tIns="0" rIns="0" bIns="0" rtlCol="0" anchor="t"/>
          <a:lstStyle/>
          <a:p>
            <a:pPr indent="0" marL="0">
              <a:buNone/>
            </a:pPr>
            <a:r>
              <a:rPr lang="en-US" sz="1100" dirty="0">
                <a:solidFill>
                  <a:schemeClr val="tx1"/>
                </a:solidFill>
              </a:rPr>
              <a:t>kledingmarkt NL per jaar; man besteedt € 476/jaar</a:t>
            </a:r>
            <a:endParaRPr lang="en-US" sz="1100" dirty="0"/>
          </a:p>
        </p:txBody>
      </p:sp>
      <p:sp>
        <p:nvSpPr>
          <p:cNvPr id="7" name="Shape 4"/>
          <p:cNvSpPr/>
          <p:nvPr/>
        </p:nvSpPr>
        <p:spPr>
          <a:xfrm>
            <a:off x="6126480" y="2240280"/>
            <a:ext cx="2560320" cy="2377440"/>
          </a:xfrm>
          <a:prstGeom prst="roundRect">
            <a:avLst>
              <a:gd name="adj" fmla="val 3077"/>
            </a:avLst>
          </a:prstGeom>
          <a:solidFill>
            <a:schemeClr val="tx1"/>
          </a:solidFill>
          <a:ln w="12700">
            <a:solidFill>
              <a:schemeClr val="tx1"/>
            </a:solidFill>
            <a:prstDash val="solid"/>
          </a:ln>
        </p:spPr>
      </p:sp>
      <p:sp>
        <p:nvSpPr>
          <p:cNvPr id="8" name="Text 5"/>
          <p:cNvSpPr txBox="1"/>
          <p:nvPr/>
        </p:nvSpPr>
        <p:spPr>
          <a:xfrm>
            <a:off x="6309360" y="2331720"/>
            <a:ext cx="2194560" cy="457200"/>
          </a:xfrm>
          <a:prstGeom prst="rect">
            <a:avLst/>
          </a:prstGeom>
          <a:noFill/>
          <a:ln/>
        </p:spPr>
        <p:txBody>
          <a:bodyPr wrap="square" lIns="0" tIns="0" rIns="0" bIns="0" rtlCol="0" anchor="t"/>
          <a:lstStyle/>
          <a:p>
            <a:pPr indent="0" marL="0">
              <a:buNone/>
            </a:pPr>
            <a:r>
              <a:rPr lang="en-US" sz="2600" b="1" dirty="0">
                <a:solidFill>
                  <a:schemeClr val="accent5"/>
                </a:solidFill>
                <a:latin typeface="Cambria" pitchFamily="34" charset="0"/>
                <a:ea typeface="Cambria" pitchFamily="34" charset="-122"/>
                <a:cs typeface="Cambria" pitchFamily="34" charset="-120"/>
              </a:rPr>
              <a:t>€ 11.250</a:t>
            </a:r>
            <a:endParaRPr lang="en-US" sz="2600" dirty="0"/>
          </a:p>
        </p:txBody>
      </p:sp>
      <p:sp>
        <p:nvSpPr>
          <p:cNvPr id="9" name="Text 6"/>
          <p:cNvSpPr txBox="1"/>
          <p:nvPr/>
        </p:nvSpPr>
        <p:spPr>
          <a:xfrm>
            <a:off x="6309360" y="2834640"/>
            <a:ext cx="2240280" cy="1691640"/>
          </a:xfrm>
          <a:prstGeom prst="rect">
            <a:avLst/>
          </a:prstGeom>
          <a:noFill/>
          <a:ln/>
        </p:spPr>
        <p:txBody>
          <a:bodyPr wrap="square" lIns="0" tIns="0" rIns="0" bIns="0" rtlCol="0" anchor="t"/>
          <a:lstStyle/>
          <a:p>
            <a:pPr indent="0" marL="0">
              <a:buNone/>
            </a:pPr>
            <a:r>
              <a:rPr lang="en-US" sz="1200" dirty="0">
                <a:solidFill>
                  <a:schemeClr val="bg1"/>
                </a:solidFill>
              </a:rPr>
              <a:t>Voorzichtig scenario jaar 1: 2 klanten/week × 45 weken × € 125 gemiddeld. Onder de KOR-grens van € 20.000, dus geen btw.</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Naam, merk en rechtsvorm</a:t>
            </a:r>
            <a:endParaRPr lang="en-US" sz="2600" dirty="0"/>
          </a:p>
        </p:txBody>
      </p:sp>
      <p:sp>
        <p:nvSpPr>
          <p:cNvPr id="3" name="Shape 1"/>
          <p:cNvSpPr/>
          <p:nvPr/>
        </p:nvSpPr>
        <p:spPr>
          <a:xfrm>
            <a:off x="457200" y="1051560"/>
            <a:ext cx="2615184" cy="2971800"/>
          </a:xfrm>
          <a:prstGeom prst="roundRect">
            <a:avLst>
              <a:gd name="adj" fmla="val 2797"/>
            </a:avLst>
          </a:prstGeom>
          <a:solidFill>
            <a:schemeClr val="bg2"/>
          </a:solidFill>
          <a:ln w="12700">
            <a:solidFill>
              <a:schemeClr val="bg2"/>
            </a:solidFill>
            <a:prstDash val="solid"/>
          </a:ln>
        </p:spPr>
      </p:sp>
      <p:sp>
        <p:nvSpPr>
          <p:cNvPr id="4" name="Shape 2"/>
          <p:cNvSpPr/>
          <p:nvPr/>
        </p:nvSpPr>
        <p:spPr>
          <a:xfrm>
            <a:off x="640080" y="123444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58952" y="1353312"/>
            <a:ext cx="219456" cy="219456"/>
          </a:xfrm>
          <a:prstGeom prst="rect">
            <a:avLst/>
          </a:prstGeom>
        </p:spPr>
      </p:pic>
      <p:sp>
        <p:nvSpPr>
          <p:cNvPr id="6" name="Text 3"/>
          <p:cNvSpPr txBox="1"/>
          <p:nvPr/>
        </p:nvSpPr>
        <p:spPr>
          <a:xfrm>
            <a:off x="1234440" y="1280160"/>
            <a:ext cx="1737360" cy="365760"/>
          </a:xfrm>
          <a:prstGeom prst="rect">
            <a:avLst/>
          </a:prstGeom>
          <a:noFill/>
          <a:ln/>
        </p:spPr>
        <p:txBody>
          <a:bodyPr wrap="square" lIns="0" tIns="0" rIns="0" bIns="0" rtlCol="0" anchor="ctr"/>
          <a:lstStyle/>
          <a:p>
            <a:pPr indent="0" marL="0">
              <a:buNone/>
            </a:pPr>
            <a:r>
              <a:rPr lang="en-US" sz="1600" b="1" dirty="0">
                <a:solidFill>
                  <a:schemeClr val="tx1"/>
                </a:solidFill>
              </a:rPr>
              <a:t>Handelsnaam</a:t>
            </a:r>
            <a:endParaRPr lang="en-US" sz="1600" dirty="0"/>
          </a:p>
        </p:txBody>
      </p:sp>
      <p:sp>
        <p:nvSpPr>
          <p:cNvPr id="7" name="Text 4"/>
          <p:cNvSpPr txBox="1"/>
          <p:nvPr/>
        </p:nvSpPr>
        <p:spPr>
          <a:xfrm>
            <a:off x="640080" y="1828800"/>
            <a:ext cx="228600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“Double F” = mijn achternaam met dubbel f, “Personal Shopping” = de dienst</a:t>
            </a:r>
            <a:endParaRPr lang="en-US" sz="1200" dirty="0"/>
          </a:p>
          <a:p>
            <a:pPr marL="342900" indent="-342900">
              <a:spcAft>
                <a:spcPts val="500"/>
              </a:spcAft>
              <a:buSzPct val="100000"/>
              <a:buChar char="•"/>
            </a:pPr>
            <a:r>
              <a:rPr lang="en-US" sz="1200" dirty="0">
                <a:solidFill>
                  <a:schemeClr val="tx1"/>
                </a:solidFill>
              </a:rPr>
              <a:t>KVK-naamchecker: komt niet voor in Handelsregister of Merkenregister</a:t>
            </a:r>
            <a:endParaRPr lang="en-US" sz="1200" dirty="0"/>
          </a:p>
          <a:p>
            <a:pPr marL="342900" indent="-342900">
              <a:spcAft>
                <a:spcPts val="500"/>
              </a:spcAft>
              <a:buSzPct val="100000"/>
              <a:buChar char="•"/>
            </a:pPr>
            <a:r>
              <a:rPr lang="en-US" sz="1200" dirty="0">
                <a:solidFill>
                  <a:schemeClr val="tx1"/>
                </a:solidFill>
              </a:rPr>
              <a:t>Mag niet verwarrend of misleidend zijn (art. 5 Handelsnaamwet)</a:t>
            </a:r>
            <a:endParaRPr lang="en-US" sz="1200" dirty="0"/>
          </a:p>
        </p:txBody>
      </p:sp>
      <p:sp>
        <p:nvSpPr>
          <p:cNvPr id="8" name="Shape 5"/>
          <p:cNvSpPr/>
          <p:nvPr/>
        </p:nvSpPr>
        <p:spPr>
          <a:xfrm>
            <a:off x="3264408" y="1051560"/>
            <a:ext cx="2615184" cy="2971800"/>
          </a:xfrm>
          <a:prstGeom prst="roundRect">
            <a:avLst>
              <a:gd name="adj" fmla="val 2797"/>
            </a:avLst>
          </a:prstGeom>
          <a:solidFill>
            <a:schemeClr val="bg2"/>
          </a:solidFill>
          <a:ln w="12700">
            <a:solidFill>
              <a:schemeClr val="bg2"/>
            </a:solidFill>
            <a:prstDash val="solid"/>
          </a:ln>
        </p:spPr>
      </p:sp>
      <p:sp>
        <p:nvSpPr>
          <p:cNvPr id="9" name="Shape 6"/>
          <p:cNvSpPr/>
          <p:nvPr/>
        </p:nvSpPr>
        <p:spPr>
          <a:xfrm>
            <a:off x="3447288" y="123444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566160" y="1353312"/>
            <a:ext cx="219456" cy="219456"/>
          </a:xfrm>
          <a:prstGeom prst="rect">
            <a:avLst/>
          </a:prstGeom>
        </p:spPr>
      </p:pic>
      <p:sp>
        <p:nvSpPr>
          <p:cNvPr id="11" name="Text 7"/>
          <p:cNvSpPr txBox="1"/>
          <p:nvPr/>
        </p:nvSpPr>
        <p:spPr>
          <a:xfrm>
            <a:off x="4041648" y="1280160"/>
            <a:ext cx="1737360" cy="365760"/>
          </a:xfrm>
          <a:prstGeom prst="rect">
            <a:avLst/>
          </a:prstGeom>
          <a:noFill/>
          <a:ln/>
        </p:spPr>
        <p:txBody>
          <a:bodyPr wrap="square" lIns="0" tIns="0" rIns="0" bIns="0" rtlCol="0" anchor="ctr"/>
          <a:lstStyle/>
          <a:p>
            <a:pPr indent="0" marL="0">
              <a:buNone/>
            </a:pPr>
            <a:r>
              <a:rPr lang="en-US" sz="1600" b="1" dirty="0">
                <a:solidFill>
                  <a:schemeClr val="tx1"/>
                </a:solidFill>
              </a:rPr>
              <a:t>Merknaam</a:t>
            </a:r>
            <a:endParaRPr lang="en-US" sz="1600" dirty="0"/>
          </a:p>
        </p:txBody>
      </p:sp>
      <p:sp>
        <p:nvSpPr>
          <p:cNvPr id="12" name="Text 8"/>
          <p:cNvSpPr txBox="1"/>
          <p:nvPr/>
        </p:nvSpPr>
        <p:spPr>
          <a:xfrm>
            <a:off x="3447288" y="1828800"/>
            <a:ext cx="228600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“Personal Shopping” is beschrijvend en niet te beschermen</a:t>
            </a:r>
            <a:endParaRPr lang="en-US" sz="1200" dirty="0"/>
          </a:p>
          <a:p>
            <a:pPr marL="342900" indent="-342900">
              <a:spcAft>
                <a:spcPts val="500"/>
              </a:spcAft>
              <a:buSzPct val="100000"/>
              <a:buChar char="•"/>
            </a:pPr>
            <a:r>
              <a:rPr lang="en-US" sz="1200" dirty="0">
                <a:solidFill>
                  <a:schemeClr val="tx1"/>
                </a:solidFill>
              </a:rPr>
              <a:t>“Double F” wel: later registreren bij BOIP (Benelux), klasse 35</a:t>
            </a:r>
            <a:endParaRPr lang="en-US" sz="1200" dirty="0"/>
          </a:p>
          <a:p>
            <a:pPr marL="342900" indent="-342900">
              <a:spcAft>
                <a:spcPts val="500"/>
              </a:spcAft>
              <a:buSzPct val="100000"/>
              <a:buChar char="•"/>
            </a:pPr>
            <a:r>
              <a:rPr lang="en-US" sz="1200" dirty="0">
                <a:solidFill>
                  <a:schemeClr val="tx1"/>
                </a:solidFill>
              </a:rPr>
              <a:t>Voor de start nog niet nodig</a:t>
            </a:r>
            <a:endParaRPr lang="en-US" sz="1200" dirty="0"/>
          </a:p>
        </p:txBody>
      </p:sp>
      <p:sp>
        <p:nvSpPr>
          <p:cNvPr id="13" name="Shape 9"/>
          <p:cNvSpPr/>
          <p:nvPr/>
        </p:nvSpPr>
        <p:spPr>
          <a:xfrm>
            <a:off x="6071616" y="1051560"/>
            <a:ext cx="2615184" cy="2971800"/>
          </a:xfrm>
          <a:prstGeom prst="roundRect">
            <a:avLst>
              <a:gd name="adj" fmla="val 2797"/>
            </a:avLst>
          </a:prstGeom>
          <a:solidFill>
            <a:schemeClr val="tx1"/>
          </a:solidFill>
          <a:ln w="12700">
            <a:solidFill>
              <a:schemeClr val="tx1"/>
            </a:solidFill>
            <a:prstDash val="solid"/>
          </a:ln>
        </p:spPr>
      </p:sp>
      <p:sp>
        <p:nvSpPr>
          <p:cNvPr id="14" name="Shape 10"/>
          <p:cNvSpPr/>
          <p:nvPr/>
        </p:nvSpPr>
        <p:spPr>
          <a:xfrm>
            <a:off x="6254496" y="1234440"/>
            <a:ext cx="457200" cy="45720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373368" y="1353312"/>
            <a:ext cx="219456" cy="219456"/>
          </a:xfrm>
          <a:prstGeom prst="rect">
            <a:avLst/>
          </a:prstGeom>
        </p:spPr>
      </p:pic>
      <p:sp>
        <p:nvSpPr>
          <p:cNvPr id="16" name="Text 11"/>
          <p:cNvSpPr txBox="1"/>
          <p:nvPr/>
        </p:nvSpPr>
        <p:spPr>
          <a:xfrm>
            <a:off x="6848856" y="1280160"/>
            <a:ext cx="1737360" cy="365760"/>
          </a:xfrm>
          <a:prstGeom prst="rect">
            <a:avLst/>
          </a:prstGeom>
          <a:noFill/>
          <a:ln/>
        </p:spPr>
        <p:txBody>
          <a:bodyPr wrap="square" lIns="0" tIns="0" rIns="0" bIns="0" rtlCol="0" anchor="ctr"/>
          <a:lstStyle/>
          <a:p>
            <a:pPr indent="0" marL="0">
              <a:buNone/>
            </a:pPr>
            <a:r>
              <a:rPr lang="en-US" sz="1600" b="1" dirty="0">
                <a:solidFill>
                  <a:schemeClr val="bg1"/>
                </a:solidFill>
              </a:rPr>
              <a:t>Eenmanszaak</a:t>
            </a:r>
            <a:endParaRPr lang="en-US" sz="1600" dirty="0"/>
          </a:p>
        </p:txBody>
      </p:sp>
      <p:sp>
        <p:nvSpPr>
          <p:cNvPr id="17" name="Text 12"/>
          <p:cNvSpPr txBox="1"/>
          <p:nvPr/>
        </p:nvSpPr>
        <p:spPr>
          <a:xfrm>
            <a:off x="6254496" y="1828800"/>
            <a:ext cx="228600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bg1"/>
                </a:solidFill>
              </a:rPr>
              <a:t>Ik start alleen, snel en goedkoop: geen notaris of startkapitaal</a:t>
            </a:r>
            <a:endParaRPr lang="en-US" sz="1200" dirty="0"/>
          </a:p>
          <a:p>
            <a:pPr marL="342900" indent="-342900">
              <a:spcAft>
                <a:spcPts val="500"/>
              </a:spcAft>
              <a:buSzPct val="100000"/>
              <a:buChar char="•"/>
            </a:pPr>
            <a:r>
              <a:rPr lang="en-US" sz="1200" dirty="0">
                <a:solidFill>
                  <a:schemeClr val="bg1"/>
                </a:solidFill>
              </a:rPr>
              <a:t>Weinig risico: geen voorraad, lage kosten</a:t>
            </a:r>
            <a:endParaRPr lang="en-US" sz="1200" dirty="0"/>
          </a:p>
          <a:p>
            <a:pPr marL="342900" indent="-342900">
              <a:spcAft>
                <a:spcPts val="500"/>
              </a:spcAft>
              <a:buSzPct val="100000"/>
              <a:buChar char="•"/>
            </a:pPr>
            <a:r>
              <a:rPr lang="en-US" sz="1200" dirty="0">
                <a:solidFill>
                  <a:schemeClr val="bg1"/>
                </a:solidFill>
              </a:rPr>
              <a:t>KOR: geen btw onder € 20.000 omzet</a:t>
            </a:r>
            <a:endParaRPr lang="en-US" sz="1200" dirty="0"/>
          </a:p>
          <a:p>
            <a:pPr marL="342900" indent="-342900">
              <a:spcAft>
                <a:spcPts val="500"/>
              </a:spcAft>
              <a:buSzPct val="100000"/>
              <a:buChar char="•"/>
            </a:pPr>
            <a:r>
              <a:rPr lang="en-US" sz="1200" dirty="0">
                <a:solidFill>
                  <a:schemeClr val="bg1"/>
                </a:solidFill>
              </a:rPr>
              <a:t>Nadeel: privé aansprakelijk → duidelijke afspraken met klanten</a:t>
            </a:r>
            <a:endParaRPr lang="en-US" sz="1200" dirty="0"/>
          </a:p>
        </p:txBody>
      </p:sp>
      <p:sp>
        <p:nvSpPr>
          <p:cNvPr id="18" name="Text 13"/>
          <p:cNvSpPr txBox="1"/>
          <p:nvPr/>
        </p:nvSpPr>
        <p:spPr>
          <a:xfrm>
            <a:off x="457200" y="4160520"/>
            <a:ext cx="8229600" cy="548640"/>
          </a:xfrm>
          <a:prstGeom prst="rect">
            <a:avLst/>
          </a:prstGeom>
          <a:noFill/>
          <a:ln/>
        </p:spPr>
        <p:txBody>
          <a:bodyPr wrap="square" lIns="0" tIns="0" rIns="0" bIns="0" rtlCol="0" anchor="t"/>
          <a:lstStyle/>
          <a:p>
            <a:pPr indent="0" marL="0">
              <a:buNone/>
            </a:pPr>
            <a:r>
              <a:rPr lang="en-US" sz="1200" b="1" dirty="0">
                <a:solidFill>
                  <a:schemeClr val="tx1"/>
                </a:solidFill>
              </a:rPr>
              <a:t>Reflectie expertpresentatie (NV): </a:t>
            </a:r>
            <a:pPr indent="0" marL="0">
              <a:buNone/>
            </a:pPr>
            <a:r>
              <a:rPr lang="en-US" sz="1200" dirty="0">
                <a:solidFill>
                  <a:schemeClr val="tx1"/>
                </a:solidFill>
              </a:rPr>
              <a:t>een NV is voor grote bedrijven, met notaris en veel regels. Daardoor snap ik waarom een kleine rechtsvorm bij mij past. Volgende keer vraag ik zelf om feedback. Groei ik met personeel of een winkel, dan ga ik naar een vof of bv.</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Lean Canvas #2: van aanname naar onderbouwing</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463040"/>
                <a:gridCol w="2651760"/>
                <a:gridCol w="4114800"/>
              </a:tblGrid>
              <a:tr h="566928">
                <a:tc>
                  <a:txBody>
                    <a:bodyPr/>
                    <a:lstStyle/>
                    <a:p>
                      <a:pPr indent="0" marL="0">
                        <a:buNone/>
                      </a:pPr>
                      <a:r>
                        <a:rPr lang="en-US" sz="1200" b="1" dirty="0">
                          <a:solidFill>
                            <a:schemeClr val="bg1"/>
                          </a:solidFill>
                        </a:rPr>
                        <a:t>Bouwsteen</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Lean Canvas #1 (aanname)</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Lean Canvas #2 (onderbouwd)</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tx1"/>
                    </a:solidFill>
                  </a:tcPr>
                </a:tc>
              </a:tr>
              <a:tr h="566928">
                <a:tc>
                  <a:txBody>
                    <a:bodyPr/>
                    <a:lstStyle/>
                    <a:p>
                      <a:pPr indent="0" marL="0">
                        <a:buNone/>
                      </a:pPr>
                      <a:r>
                        <a:rPr lang="en-US" sz="1200" b="1" dirty="0">
                          <a:solidFill>
                            <a:schemeClr val="tx1"/>
                          </a:solidFill>
                        </a:rPr>
                        <a:t>Probleem</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Tijdgebrek, onzeker over stijl, volle kast</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Zelfde problemen, nu met bewijs: 6/9 wil minder tijd kwijt; ‘Staat dit me?’ dagelijks in de winkel</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rPr>
                        <a:t>Klantsegment</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Welvarende mannen met weinig tijd</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Mannen 30–55 met eigen bedrijf of drukke baan die snel willen beslissen</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rPr>
                        <a:t>Waardepropositie</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Stijl verbeteren zonder moeite</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en persoonlijke aandacht staan voorop (8/10), zonder opdringerige verkoper</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rPr>
                        <a:t>Early adopters</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Weinig tijd, hekel aan winkelen</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Mannen die winkelen als ‘iets wat moet’ zien; vaste klanten die terugkomen bij dezelfde verkoper</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1"/>
                          </a:solidFill>
                        </a:rPr>
                        <a:t>Onderbouwing</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Deskresearch en eigen ervaring</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Observaties in de winkel, 10 interviews, gesprekken met leidinggevende en collega</a:t>
                      </a:r>
                      <a:endParaRPr lang="en-US" sz="1200" dirty="0"/>
                    </a:p>
                  </a:txBody>
                  <a:tcPr marL="91440" marR="91440" marT="45720" marB="45720" anchor="ctr">
                    <a:lnL w="9525" cap="flat" cmpd="sng" algn="ctr">
                      <a:solidFill>
                        <a:srgbClr val="EEF1F4"/>
                      </a:solidFill>
                      <a:prstDash val="solid"/>
                      <a:round/>
                      <a:headEnd type="none" w="med" len="med"/>
                      <a:tailEnd type="none" w="med" len="med"/>
                    </a:lnL>
                    <a:lnR w="9525" cap="flat" cmpd="sng" algn="ctr">
                      <a:solidFill>
                        <a:srgbClr val="EEF1F4"/>
                      </a:solidFill>
                      <a:prstDash val="solid"/>
                      <a:round/>
                      <a:headEnd type="none" w="med" len="med"/>
                      <a:tailEnd type="none" w="med" len="med"/>
                    </a:lnR>
                    <a:lnT w="9525" cap="flat" cmpd="sng" algn="ctr">
                      <a:solidFill>
                        <a:srgbClr val="EEF1F4"/>
                      </a:solidFill>
                      <a:prstDash val="solid"/>
                      <a:round/>
                      <a:headEnd type="none" w="med" len="med"/>
                      <a:tailEnd type="none" w="med" len="med"/>
                    </a:lnT>
                    <a:lnB w="9525" cap="flat" cmpd="sng" algn="ctr">
                      <a:solidFill>
                        <a:srgbClr val="EEF1F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Mijn pitch in één minuut</a:t>
            </a:r>
            <a:endParaRPr lang="en-US" sz="2600" dirty="0"/>
          </a:p>
        </p:txBody>
      </p:sp>
      <p:sp>
        <p:nvSpPr>
          <p:cNvPr id="3" name="Shape 1"/>
          <p:cNvSpPr/>
          <p:nvPr/>
        </p:nvSpPr>
        <p:spPr>
          <a:xfrm>
            <a:off x="457200" y="1097280"/>
            <a:ext cx="548640" cy="548640"/>
          </a:xfrm>
          <a:prstGeom prst="ellipse">
            <a:avLst/>
          </a:prstGeom>
          <a:solidFill>
            <a:schemeClr val="bg2"/>
          </a:solidFill>
          <a:ln w="12700">
            <a:solidFill>
              <a:schemeClr val="bg2"/>
            </a:solidFill>
            <a:prstDash val="solid"/>
          </a:ln>
        </p:spPr>
      </p:sp>
      <p:pic>
        <p:nvPicPr>
          <p:cNvPr id="4" name="Image 0" descr="preencoded.png">    </p:cNvPr>
          <p:cNvPicPr>
            <a:picLocks noChangeAspect="1"/>
          </p:cNvPicPr>
          <p:nvPr/>
        </p:nvPicPr>
        <p:blipFill>
          <a:blip r:embed="rId1"/>
          <a:stretch>
            <a:fillRect/>
          </a:stretch>
        </p:blipFill>
        <p:spPr>
          <a:xfrm>
            <a:off x="599846" y="1239926"/>
            <a:ext cx="263347" cy="263347"/>
          </a:xfrm>
          <a:prstGeom prst="rect">
            <a:avLst/>
          </a:prstGeom>
        </p:spPr>
      </p:pic>
      <p:sp>
        <p:nvSpPr>
          <p:cNvPr id="5" name="Text 2"/>
          <p:cNvSpPr txBox="1"/>
          <p:nvPr/>
        </p:nvSpPr>
        <p:spPr>
          <a:xfrm>
            <a:off x="1188720" y="1097280"/>
            <a:ext cx="7498080" cy="731520"/>
          </a:xfrm>
          <a:prstGeom prst="rect">
            <a:avLst/>
          </a:prstGeom>
          <a:noFill/>
          <a:ln/>
        </p:spPr>
        <p:txBody>
          <a:bodyPr wrap="square" lIns="0" tIns="0" rIns="0" bIns="0" rtlCol="0" anchor="ctr"/>
          <a:lstStyle/>
          <a:p>
            <a:pPr indent="0" marL="0">
              <a:buNone/>
            </a:pPr>
            <a:r>
              <a:rPr lang="en-US" sz="2000" i="1" dirty="0">
                <a:solidFill>
                  <a:schemeClr val="tx1"/>
                </a:solidFill>
                <a:latin typeface="Cambria" pitchFamily="34" charset="0"/>
                <a:ea typeface="Cambria" pitchFamily="34" charset="-122"/>
                <a:cs typeface="Cambria" pitchFamily="34" charset="-120"/>
              </a:rPr>
              <a:t>“Het liefst minder tijd eigenlijk, want je bent toch altijd die zaterdag kwijt.”</a:t>
            </a:r>
            <a:endParaRPr lang="en-US" sz="2000" dirty="0"/>
          </a:p>
        </p:txBody>
      </p:sp>
      <p:sp>
        <p:nvSpPr>
          <p:cNvPr id="6" name="Text 3"/>
          <p:cNvSpPr txBox="1"/>
          <p:nvPr/>
        </p:nvSpPr>
        <p:spPr>
          <a:xfrm>
            <a:off x="1188720" y="1828800"/>
            <a:ext cx="7498080" cy="274320"/>
          </a:xfrm>
          <a:prstGeom prst="rect">
            <a:avLst/>
          </a:prstGeom>
          <a:noFill/>
          <a:ln/>
        </p:spPr>
        <p:txBody>
          <a:bodyPr wrap="square" lIns="0" tIns="0" rIns="0" bIns="0" rtlCol="0" anchor="t"/>
          <a:lstStyle/>
          <a:p>
            <a:pPr indent="0" marL="0">
              <a:buNone/>
            </a:pPr>
            <a:r>
              <a:rPr lang="en-US" sz="1100" dirty="0">
                <a:solidFill>
                  <a:schemeClr val="accent4"/>
                </a:solidFill>
              </a:rPr>
              <a:t>Respondent die twee keer per maand dure merkkleding koopt</a:t>
            </a:r>
            <a:endParaRPr lang="en-US" sz="1100" dirty="0"/>
          </a:p>
        </p:txBody>
      </p:sp>
      <p:sp>
        <p:nvSpPr>
          <p:cNvPr id="7" name="Shape 4"/>
          <p:cNvSpPr/>
          <p:nvPr/>
        </p:nvSpPr>
        <p:spPr>
          <a:xfrm>
            <a:off x="457200" y="2377440"/>
            <a:ext cx="2615184"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640080" y="2487168"/>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Probleem</a:t>
            </a:r>
            <a:endParaRPr lang="en-US" sz="1400" dirty="0"/>
          </a:p>
        </p:txBody>
      </p:sp>
      <p:sp>
        <p:nvSpPr>
          <p:cNvPr id="9" name="Text 6"/>
          <p:cNvSpPr txBox="1"/>
          <p:nvPr/>
        </p:nvSpPr>
        <p:spPr>
          <a:xfrm>
            <a:off x="640080" y="2834640"/>
            <a:ext cx="2286000" cy="914400"/>
          </a:xfrm>
          <a:prstGeom prst="rect">
            <a:avLst/>
          </a:prstGeom>
          <a:noFill/>
          <a:ln/>
        </p:spPr>
        <p:txBody>
          <a:bodyPr wrap="square" lIns="0" tIns="0" rIns="0" bIns="0" rtlCol="0" anchor="t"/>
          <a:lstStyle/>
          <a:p>
            <a:pPr indent="0" marL="0">
              <a:buNone/>
            </a:pPr>
            <a:r>
              <a:rPr lang="en-US" sz="1300" dirty="0">
                <a:solidFill>
                  <a:schemeClr val="tx1"/>
                </a:solidFill>
              </a:rPr>
              <a:t>Uren zoeken, passen en twijfelen, en toch een kast vol ‘niks om aan te trekken’</a:t>
            </a:r>
            <a:endParaRPr lang="en-US" sz="1300" dirty="0"/>
          </a:p>
        </p:txBody>
      </p:sp>
      <p:sp>
        <p:nvSpPr>
          <p:cNvPr id="10" name="Shape 7"/>
          <p:cNvSpPr/>
          <p:nvPr/>
        </p:nvSpPr>
        <p:spPr>
          <a:xfrm>
            <a:off x="3264408" y="2377440"/>
            <a:ext cx="2615184" cy="1463040"/>
          </a:xfrm>
          <a:prstGeom prst="roundRect">
            <a:avLst>
              <a:gd name="adj" fmla="val 5000"/>
            </a:avLst>
          </a:prstGeom>
          <a:solidFill>
            <a:schemeClr val="bg2"/>
          </a:solidFill>
          <a:ln w="12700">
            <a:solidFill>
              <a:schemeClr val="bg2"/>
            </a:solidFill>
            <a:prstDash val="solid"/>
          </a:ln>
        </p:spPr>
      </p:sp>
      <p:sp>
        <p:nvSpPr>
          <p:cNvPr id="11" name="Text 8"/>
          <p:cNvSpPr txBox="1"/>
          <p:nvPr/>
        </p:nvSpPr>
        <p:spPr>
          <a:xfrm>
            <a:off x="3447288" y="2487168"/>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Oplossing</a:t>
            </a:r>
            <a:endParaRPr lang="en-US" sz="1400" dirty="0"/>
          </a:p>
        </p:txBody>
      </p:sp>
      <p:sp>
        <p:nvSpPr>
          <p:cNvPr id="12" name="Text 9"/>
          <p:cNvSpPr txBox="1"/>
          <p:nvPr/>
        </p:nvSpPr>
        <p:spPr>
          <a:xfrm>
            <a:off x="3447288" y="2834640"/>
            <a:ext cx="2286000" cy="914400"/>
          </a:xfrm>
          <a:prstGeom prst="rect">
            <a:avLst/>
          </a:prstGeom>
          <a:noFill/>
          <a:ln/>
        </p:spPr>
        <p:txBody>
          <a:bodyPr wrap="square" lIns="0" tIns="0" rIns="0" bIns="0" rtlCol="0" anchor="t"/>
          <a:lstStyle/>
          <a:p>
            <a:pPr indent="0" marL="0">
              <a:buNone/>
            </a:pPr>
            <a:r>
              <a:rPr lang="en-US" sz="1300" dirty="0">
                <a:solidFill>
                  <a:schemeClr val="tx1"/>
                </a:solidFill>
              </a:rPr>
              <a:t>Intake, kastcheck, ik shop voor jou en lever af, plus een stijlgids</a:t>
            </a:r>
            <a:endParaRPr lang="en-US" sz="1300" dirty="0"/>
          </a:p>
        </p:txBody>
      </p:sp>
      <p:sp>
        <p:nvSpPr>
          <p:cNvPr id="13" name="Shape 10"/>
          <p:cNvSpPr/>
          <p:nvPr/>
        </p:nvSpPr>
        <p:spPr>
          <a:xfrm>
            <a:off x="6071616" y="2377440"/>
            <a:ext cx="2615184" cy="1463040"/>
          </a:xfrm>
          <a:prstGeom prst="roundRect">
            <a:avLst>
              <a:gd name="adj" fmla="val 5000"/>
            </a:avLst>
          </a:prstGeom>
          <a:solidFill>
            <a:schemeClr val="bg2"/>
          </a:solidFill>
          <a:ln w="12700">
            <a:solidFill>
              <a:schemeClr val="bg2"/>
            </a:solidFill>
            <a:prstDash val="solid"/>
          </a:ln>
        </p:spPr>
      </p:sp>
      <p:sp>
        <p:nvSpPr>
          <p:cNvPr id="14" name="Text 11"/>
          <p:cNvSpPr txBox="1"/>
          <p:nvPr/>
        </p:nvSpPr>
        <p:spPr>
          <a:xfrm>
            <a:off x="6254496" y="2487168"/>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Waarom ik</a:t>
            </a:r>
            <a:endParaRPr lang="en-US" sz="1400" dirty="0"/>
          </a:p>
        </p:txBody>
      </p:sp>
      <p:sp>
        <p:nvSpPr>
          <p:cNvPr id="15" name="Text 12"/>
          <p:cNvSpPr txBox="1"/>
          <p:nvPr/>
        </p:nvSpPr>
        <p:spPr>
          <a:xfrm>
            <a:off x="6254496" y="2834640"/>
            <a:ext cx="2286000" cy="914400"/>
          </a:xfrm>
          <a:prstGeom prst="rect">
            <a:avLst/>
          </a:prstGeom>
          <a:noFill/>
          <a:ln/>
        </p:spPr>
        <p:txBody>
          <a:bodyPr wrap="square" lIns="0" tIns="0" rIns="0" bIns="0" rtlCol="0" anchor="t"/>
          <a:lstStyle/>
          <a:p>
            <a:pPr indent="0" marL="0">
              <a:buNone/>
            </a:pPr>
            <a:r>
              <a:rPr lang="en-US" sz="1300" dirty="0">
                <a:solidFill>
                  <a:schemeClr val="tx1"/>
                </a:solidFill>
              </a:rPr>
              <a:t>Werk in herenkleding, ken merken en pasvormen, heb contacten in winkels</a:t>
            </a:r>
            <a:endParaRPr lang="en-US" sz="1300" dirty="0"/>
          </a:p>
        </p:txBody>
      </p:sp>
      <p:sp>
        <p:nvSpPr>
          <p:cNvPr id="16" name="Shape 13"/>
          <p:cNvSpPr/>
          <p:nvPr/>
        </p:nvSpPr>
        <p:spPr>
          <a:xfrm>
            <a:off x="457200" y="4023360"/>
            <a:ext cx="8229600" cy="640080"/>
          </a:xfrm>
          <a:prstGeom prst="roundRect">
            <a:avLst>
              <a:gd name="adj" fmla="val 11429"/>
            </a:avLst>
          </a:prstGeom>
          <a:solidFill>
            <a:schemeClr val="tx1"/>
          </a:solidFill>
          <a:ln w="12700">
            <a:solidFill>
              <a:schemeClr val="tx1"/>
            </a:solidFill>
            <a:prstDash val="solid"/>
          </a:ln>
        </p:spPr>
      </p:sp>
      <p:sp>
        <p:nvSpPr>
          <p:cNvPr id="17" name="Text 14"/>
          <p:cNvSpPr txBox="1"/>
          <p:nvPr/>
        </p:nvSpPr>
        <p:spPr>
          <a:xfrm>
            <a:off x="640080" y="4023360"/>
            <a:ext cx="786384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Double F Personal Shopping: jouw stijl, zonder de moeite.</a:t>
            </a:r>
            <a:endParaRPr lang="en-US" sz="18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Actieplan volgend blok</a:t>
            </a:r>
            <a:endParaRPr lang="en-US" sz="2600" dirty="0"/>
          </a:p>
        </p:txBody>
      </p:sp>
      <p:sp>
        <p:nvSpPr>
          <p:cNvPr id="3" name="Text 1"/>
          <p:cNvSpPr txBox="1"/>
          <p:nvPr/>
        </p:nvSpPr>
        <p:spPr>
          <a:xfrm>
            <a:off x="457200" y="960120"/>
            <a:ext cx="8229600" cy="365760"/>
          </a:xfrm>
          <a:prstGeom prst="rect">
            <a:avLst/>
          </a:prstGeom>
          <a:noFill/>
          <a:ln/>
        </p:spPr>
        <p:txBody>
          <a:bodyPr wrap="square" lIns="0" tIns="0" rIns="0" bIns="0" rtlCol="0" anchor="t"/>
          <a:lstStyle/>
          <a:p>
            <a:pPr indent="0" marL="0">
              <a:buNone/>
            </a:pPr>
            <a:r>
              <a:rPr lang="en-US" sz="1400" b="1" dirty="0">
                <a:solidFill>
                  <a:schemeClr val="accent1"/>
                </a:solidFill>
              </a:rPr>
              <a:t>Doel: Double F heeft een duidelijke doelgroep gevonden en zijn eerste mogelijke klanten.</a:t>
            </a:r>
            <a:endParaRPr lang="en-US" sz="1400" dirty="0"/>
          </a:p>
        </p:txBody>
      </p:sp>
      <p:sp>
        <p:nvSpPr>
          <p:cNvPr id="4" name="Shape 2"/>
          <p:cNvSpPr/>
          <p:nvPr/>
        </p:nvSpPr>
        <p:spPr>
          <a:xfrm>
            <a:off x="457200" y="1463040"/>
            <a:ext cx="1097280" cy="365760"/>
          </a:xfrm>
          <a:prstGeom prst="roundRect">
            <a:avLst>
              <a:gd name="adj" fmla="val 20000"/>
            </a:avLst>
          </a:prstGeom>
          <a:solidFill>
            <a:schemeClr val="tx1"/>
          </a:solidFill>
          <a:ln w="12700">
            <a:solidFill>
              <a:schemeClr val="tx1"/>
            </a:solidFill>
            <a:prstDash val="solid"/>
          </a:ln>
        </p:spPr>
      </p:sp>
      <p:sp>
        <p:nvSpPr>
          <p:cNvPr id="5" name="Text 3"/>
          <p:cNvSpPr txBox="1"/>
          <p:nvPr/>
        </p:nvSpPr>
        <p:spPr>
          <a:xfrm>
            <a:off x="457200" y="146304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Week 1</a:t>
            </a:r>
            <a:endParaRPr lang="en-US" sz="1200" dirty="0"/>
          </a:p>
        </p:txBody>
      </p:sp>
      <p:sp>
        <p:nvSpPr>
          <p:cNvPr id="6" name="Shape 4"/>
          <p:cNvSpPr/>
          <p:nvPr/>
        </p:nvSpPr>
        <p:spPr>
          <a:xfrm>
            <a:off x="1691640" y="1463040"/>
            <a:ext cx="6995160" cy="365760"/>
          </a:xfrm>
          <a:prstGeom prst="roundRect">
            <a:avLst>
              <a:gd name="adj" fmla="val 20000"/>
            </a:avLst>
          </a:prstGeom>
          <a:solidFill>
            <a:schemeClr val="bg2"/>
          </a:solidFill>
          <a:ln w="12700">
            <a:solidFill>
              <a:schemeClr val="bg2"/>
            </a:solidFill>
            <a:prstDash val="solid"/>
          </a:ln>
        </p:spPr>
      </p:sp>
      <p:sp>
        <p:nvSpPr>
          <p:cNvPr id="7" name="Text 5"/>
          <p:cNvSpPr txBox="1"/>
          <p:nvPr/>
        </p:nvSpPr>
        <p:spPr>
          <a:xfrm>
            <a:off x="1828800" y="1463040"/>
            <a:ext cx="3931920" cy="365760"/>
          </a:xfrm>
          <a:prstGeom prst="rect">
            <a:avLst/>
          </a:prstGeom>
          <a:noFill/>
          <a:ln/>
        </p:spPr>
        <p:txBody>
          <a:bodyPr wrap="square" lIns="0" tIns="0" rIns="0" bIns="0" rtlCol="0" anchor="ctr"/>
          <a:lstStyle/>
          <a:p>
            <a:pPr indent="0" marL="0">
              <a:buNone/>
            </a:pPr>
            <a:r>
              <a:rPr lang="en-US" sz="1300" dirty="0">
                <a:solidFill>
                  <a:schemeClr val="tx1"/>
                </a:solidFill>
              </a:rPr>
              <a:t>Instagram-naam vastleggen</a:t>
            </a:r>
            <a:endParaRPr lang="en-US" sz="1300" dirty="0"/>
          </a:p>
        </p:txBody>
      </p:sp>
      <p:sp>
        <p:nvSpPr>
          <p:cNvPr id="8" name="Text 6"/>
          <p:cNvSpPr txBox="1"/>
          <p:nvPr/>
        </p:nvSpPr>
        <p:spPr>
          <a:xfrm>
            <a:off x="5852160" y="1463040"/>
            <a:ext cx="2743200" cy="365760"/>
          </a:xfrm>
          <a:prstGeom prst="rect">
            <a:avLst/>
          </a:prstGeom>
          <a:noFill/>
          <a:ln/>
        </p:spPr>
        <p:txBody>
          <a:bodyPr wrap="square" lIns="0" tIns="0" rIns="0" bIns="0" rtlCol="0" anchor="ctr"/>
          <a:lstStyle/>
          <a:p>
            <a:pPr indent="0" marL="0">
              <a:buNone/>
            </a:pPr>
            <a:r>
              <a:rPr lang="en-US" sz="1200" i="1" dirty="0">
                <a:solidFill>
                  <a:schemeClr val="accent4"/>
                </a:solidFill>
              </a:rPr>
              <a:t>Account aangemaakt</a:t>
            </a:r>
            <a:endParaRPr lang="en-US" sz="1200" dirty="0"/>
          </a:p>
        </p:txBody>
      </p:sp>
      <p:sp>
        <p:nvSpPr>
          <p:cNvPr id="9" name="Shape 7"/>
          <p:cNvSpPr/>
          <p:nvPr/>
        </p:nvSpPr>
        <p:spPr>
          <a:xfrm>
            <a:off x="457200" y="1920240"/>
            <a:ext cx="1097280" cy="365760"/>
          </a:xfrm>
          <a:prstGeom prst="roundRect">
            <a:avLst>
              <a:gd name="adj" fmla="val 20000"/>
            </a:avLst>
          </a:prstGeom>
          <a:solidFill>
            <a:schemeClr val="tx1"/>
          </a:solidFill>
          <a:ln w="12700">
            <a:solidFill>
              <a:schemeClr val="tx1"/>
            </a:solidFill>
            <a:prstDash val="solid"/>
          </a:ln>
        </p:spPr>
      </p:sp>
      <p:sp>
        <p:nvSpPr>
          <p:cNvPr id="10" name="Text 8"/>
          <p:cNvSpPr txBox="1"/>
          <p:nvPr/>
        </p:nvSpPr>
        <p:spPr>
          <a:xfrm>
            <a:off x="457200" y="192024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Week 2</a:t>
            </a:r>
            <a:endParaRPr lang="en-US" sz="1200" dirty="0"/>
          </a:p>
        </p:txBody>
      </p:sp>
      <p:sp>
        <p:nvSpPr>
          <p:cNvPr id="11" name="Shape 9"/>
          <p:cNvSpPr/>
          <p:nvPr/>
        </p:nvSpPr>
        <p:spPr>
          <a:xfrm>
            <a:off x="1691640" y="1920240"/>
            <a:ext cx="6995160" cy="365760"/>
          </a:xfrm>
          <a:prstGeom prst="roundRect">
            <a:avLst>
              <a:gd name="adj" fmla="val 20000"/>
            </a:avLst>
          </a:prstGeom>
          <a:solidFill>
            <a:schemeClr val="bg2"/>
          </a:solidFill>
          <a:ln w="12700">
            <a:solidFill>
              <a:schemeClr val="bg2"/>
            </a:solidFill>
            <a:prstDash val="solid"/>
          </a:ln>
        </p:spPr>
      </p:sp>
      <p:sp>
        <p:nvSpPr>
          <p:cNvPr id="12" name="Text 10"/>
          <p:cNvSpPr txBox="1"/>
          <p:nvPr/>
        </p:nvSpPr>
        <p:spPr>
          <a:xfrm>
            <a:off x="1828800" y="1920240"/>
            <a:ext cx="3931920" cy="365760"/>
          </a:xfrm>
          <a:prstGeom prst="rect">
            <a:avLst/>
          </a:prstGeom>
          <a:noFill/>
          <a:ln/>
        </p:spPr>
        <p:txBody>
          <a:bodyPr wrap="square" lIns="0" tIns="0" rIns="0" bIns="0" rtlCol="0" anchor="ctr"/>
          <a:lstStyle/>
          <a:p>
            <a:pPr indent="0" marL="0">
              <a:buNone/>
            </a:pPr>
            <a:r>
              <a:rPr lang="en-US" sz="1300" dirty="0">
                <a:solidFill>
                  <a:schemeClr val="tx1"/>
                </a:solidFill>
              </a:rPr>
              <a:t>Prijzen vastleggen</a:t>
            </a:r>
            <a:endParaRPr lang="en-US" sz="1300" dirty="0"/>
          </a:p>
        </p:txBody>
      </p:sp>
      <p:sp>
        <p:nvSpPr>
          <p:cNvPr id="13" name="Text 11"/>
          <p:cNvSpPr txBox="1"/>
          <p:nvPr/>
        </p:nvSpPr>
        <p:spPr>
          <a:xfrm>
            <a:off x="5852160" y="1920240"/>
            <a:ext cx="2743200" cy="365760"/>
          </a:xfrm>
          <a:prstGeom prst="rect">
            <a:avLst/>
          </a:prstGeom>
          <a:noFill/>
          <a:ln/>
        </p:spPr>
        <p:txBody>
          <a:bodyPr wrap="square" lIns="0" tIns="0" rIns="0" bIns="0" rtlCol="0" anchor="ctr"/>
          <a:lstStyle/>
          <a:p>
            <a:pPr indent="0" marL="0">
              <a:buNone/>
            </a:pPr>
            <a:r>
              <a:rPr lang="en-US" sz="1200" i="1" dirty="0">
                <a:solidFill>
                  <a:schemeClr val="accent4"/>
                </a:solidFill>
              </a:rPr>
              <a:t>Prijslijst klaar</a:t>
            </a:r>
            <a:endParaRPr lang="en-US" sz="1200" dirty="0"/>
          </a:p>
        </p:txBody>
      </p:sp>
      <p:sp>
        <p:nvSpPr>
          <p:cNvPr id="14" name="Shape 12"/>
          <p:cNvSpPr/>
          <p:nvPr/>
        </p:nvSpPr>
        <p:spPr>
          <a:xfrm>
            <a:off x="457200" y="2377440"/>
            <a:ext cx="1097280" cy="365760"/>
          </a:xfrm>
          <a:prstGeom prst="roundRect">
            <a:avLst>
              <a:gd name="adj" fmla="val 20000"/>
            </a:avLst>
          </a:prstGeom>
          <a:solidFill>
            <a:schemeClr val="tx1"/>
          </a:solidFill>
          <a:ln w="12700">
            <a:solidFill>
              <a:schemeClr val="tx1"/>
            </a:solidFill>
            <a:prstDash val="solid"/>
          </a:ln>
        </p:spPr>
      </p:sp>
      <p:sp>
        <p:nvSpPr>
          <p:cNvPr id="15" name="Text 13"/>
          <p:cNvSpPr txBox="1"/>
          <p:nvPr/>
        </p:nvSpPr>
        <p:spPr>
          <a:xfrm>
            <a:off x="457200" y="237744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Week 3</a:t>
            </a:r>
            <a:endParaRPr lang="en-US" sz="1200" dirty="0"/>
          </a:p>
        </p:txBody>
      </p:sp>
      <p:sp>
        <p:nvSpPr>
          <p:cNvPr id="16" name="Shape 14"/>
          <p:cNvSpPr/>
          <p:nvPr/>
        </p:nvSpPr>
        <p:spPr>
          <a:xfrm>
            <a:off x="1691640" y="2377440"/>
            <a:ext cx="6995160" cy="365760"/>
          </a:xfrm>
          <a:prstGeom prst="roundRect">
            <a:avLst>
              <a:gd name="adj" fmla="val 20000"/>
            </a:avLst>
          </a:prstGeom>
          <a:solidFill>
            <a:schemeClr val="bg2"/>
          </a:solidFill>
          <a:ln w="12700">
            <a:solidFill>
              <a:schemeClr val="bg2"/>
            </a:solidFill>
            <a:prstDash val="solid"/>
          </a:ln>
        </p:spPr>
      </p:sp>
      <p:sp>
        <p:nvSpPr>
          <p:cNvPr id="17" name="Text 15"/>
          <p:cNvSpPr txBox="1"/>
          <p:nvPr/>
        </p:nvSpPr>
        <p:spPr>
          <a:xfrm>
            <a:off x="1828800" y="2377440"/>
            <a:ext cx="3931920" cy="365760"/>
          </a:xfrm>
          <a:prstGeom prst="rect">
            <a:avLst/>
          </a:prstGeom>
          <a:noFill/>
          <a:ln/>
        </p:spPr>
        <p:txBody>
          <a:bodyPr wrap="square" lIns="0" tIns="0" rIns="0" bIns="0" rtlCol="0" anchor="ctr"/>
          <a:lstStyle/>
          <a:p>
            <a:pPr indent="0" marL="0">
              <a:buNone/>
            </a:pPr>
            <a:r>
              <a:rPr lang="en-US" sz="1300" dirty="0">
                <a:solidFill>
                  <a:schemeClr val="tx1"/>
                </a:solidFill>
              </a:rPr>
              <a:t>Proefsessie (kastcheck) uitwerken</a:t>
            </a:r>
            <a:endParaRPr lang="en-US" sz="1300" dirty="0"/>
          </a:p>
        </p:txBody>
      </p:sp>
      <p:sp>
        <p:nvSpPr>
          <p:cNvPr id="18" name="Text 16"/>
          <p:cNvSpPr txBox="1"/>
          <p:nvPr/>
        </p:nvSpPr>
        <p:spPr>
          <a:xfrm>
            <a:off x="5852160" y="2377440"/>
            <a:ext cx="2743200" cy="365760"/>
          </a:xfrm>
          <a:prstGeom prst="rect">
            <a:avLst/>
          </a:prstGeom>
          <a:noFill/>
          <a:ln/>
        </p:spPr>
        <p:txBody>
          <a:bodyPr wrap="square" lIns="0" tIns="0" rIns="0" bIns="0" rtlCol="0" anchor="ctr"/>
          <a:lstStyle/>
          <a:p>
            <a:pPr indent="0" marL="0">
              <a:buNone/>
            </a:pPr>
            <a:r>
              <a:rPr lang="en-US" sz="1200" i="1" dirty="0">
                <a:solidFill>
                  <a:schemeClr val="accent4"/>
                </a:solidFill>
              </a:rPr>
              <a:t>Uitgewerkt idee</a:t>
            </a:r>
            <a:endParaRPr lang="en-US" sz="1200" dirty="0"/>
          </a:p>
        </p:txBody>
      </p:sp>
      <p:sp>
        <p:nvSpPr>
          <p:cNvPr id="19" name="Shape 17"/>
          <p:cNvSpPr/>
          <p:nvPr/>
        </p:nvSpPr>
        <p:spPr>
          <a:xfrm>
            <a:off x="457200" y="2834640"/>
            <a:ext cx="1097280" cy="365760"/>
          </a:xfrm>
          <a:prstGeom prst="roundRect">
            <a:avLst>
              <a:gd name="adj" fmla="val 20000"/>
            </a:avLst>
          </a:prstGeom>
          <a:solidFill>
            <a:schemeClr val="tx1"/>
          </a:solidFill>
          <a:ln w="12700">
            <a:solidFill>
              <a:schemeClr val="tx1"/>
            </a:solidFill>
            <a:prstDash val="solid"/>
          </a:ln>
        </p:spPr>
      </p:sp>
      <p:sp>
        <p:nvSpPr>
          <p:cNvPr id="20" name="Text 18"/>
          <p:cNvSpPr txBox="1"/>
          <p:nvPr/>
        </p:nvSpPr>
        <p:spPr>
          <a:xfrm>
            <a:off x="457200" y="283464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Week 4</a:t>
            </a:r>
            <a:endParaRPr lang="en-US" sz="1200" dirty="0"/>
          </a:p>
        </p:txBody>
      </p:sp>
      <p:sp>
        <p:nvSpPr>
          <p:cNvPr id="21" name="Shape 19"/>
          <p:cNvSpPr/>
          <p:nvPr/>
        </p:nvSpPr>
        <p:spPr>
          <a:xfrm>
            <a:off x="1691640" y="2834640"/>
            <a:ext cx="6995160" cy="365760"/>
          </a:xfrm>
          <a:prstGeom prst="roundRect">
            <a:avLst>
              <a:gd name="adj" fmla="val 20000"/>
            </a:avLst>
          </a:prstGeom>
          <a:solidFill>
            <a:schemeClr val="bg2"/>
          </a:solidFill>
          <a:ln w="12700">
            <a:solidFill>
              <a:schemeClr val="bg2"/>
            </a:solidFill>
            <a:prstDash val="solid"/>
          </a:ln>
        </p:spPr>
      </p:sp>
      <p:sp>
        <p:nvSpPr>
          <p:cNvPr id="22" name="Text 20"/>
          <p:cNvSpPr txBox="1"/>
          <p:nvPr/>
        </p:nvSpPr>
        <p:spPr>
          <a:xfrm>
            <a:off x="1828800" y="2834640"/>
            <a:ext cx="3931920" cy="365760"/>
          </a:xfrm>
          <a:prstGeom prst="rect">
            <a:avLst/>
          </a:prstGeom>
          <a:noFill/>
          <a:ln/>
        </p:spPr>
        <p:txBody>
          <a:bodyPr wrap="square" lIns="0" tIns="0" rIns="0" bIns="0" rtlCol="0" anchor="ctr"/>
          <a:lstStyle/>
          <a:p>
            <a:pPr indent="0" marL="0">
              <a:buNone/>
            </a:pPr>
            <a:r>
              <a:rPr lang="en-US" sz="1300" dirty="0">
                <a:solidFill>
                  <a:schemeClr val="tx1"/>
                </a:solidFill>
              </a:rPr>
              <a:t>Website-concept opstellen</a:t>
            </a:r>
            <a:endParaRPr lang="en-US" sz="1300" dirty="0"/>
          </a:p>
        </p:txBody>
      </p:sp>
      <p:sp>
        <p:nvSpPr>
          <p:cNvPr id="23" name="Text 21"/>
          <p:cNvSpPr txBox="1"/>
          <p:nvPr/>
        </p:nvSpPr>
        <p:spPr>
          <a:xfrm>
            <a:off x="5852160" y="2834640"/>
            <a:ext cx="2743200" cy="365760"/>
          </a:xfrm>
          <a:prstGeom prst="rect">
            <a:avLst/>
          </a:prstGeom>
          <a:noFill/>
          <a:ln/>
        </p:spPr>
        <p:txBody>
          <a:bodyPr wrap="square" lIns="0" tIns="0" rIns="0" bIns="0" rtlCol="0" anchor="ctr"/>
          <a:lstStyle/>
          <a:p>
            <a:pPr indent="0" marL="0">
              <a:buNone/>
            </a:pPr>
            <a:r>
              <a:rPr lang="en-US" sz="1200" i="1" dirty="0">
                <a:solidFill>
                  <a:schemeClr val="accent4"/>
                </a:solidFill>
              </a:rPr>
              <a:t>Concept tonen</a:t>
            </a:r>
            <a:endParaRPr lang="en-US" sz="1200" dirty="0"/>
          </a:p>
        </p:txBody>
      </p:sp>
      <p:sp>
        <p:nvSpPr>
          <p:cNvPr id="24" name="Shape 22"/>
          <p:cNvSpPr/>
          <p:nvPr/>
        </p:nvSpPr>
        <p:spPr>
          <a:xfrm>
            <a:off x="457200" y="3291840"/>
            <a:ext cx="1097280" cy="365760"/>
          </a:xfrm>
          <a:prstGeom prst="roundRect">
            <a:avLst>
              <a:gd name="adj" fmla="val 20000"/>
            </a:avLst>
          </a:prstGeom>
          <a:solidFill>
            <a:schemeClr val="tx1"/>
          </a:solidFill>
          <a:ln w="12700">
            <a:solidFill>
              <a:schemeClr val="tx1"/>
            </a:solidFill>
            <a:prstDash val="solid"/>
          </a:ln>
        </p:spPr>
      </p:sp>
      <p:sp>
        <p:nvSpPr>
          <p:cNvPr id="25" name="Text 23"/>
          <p:cNvSpPr txBox="1"/>
          <p:nvPr/>
        </p:nvSpPr>
        <p:spPr>
          <a:xfrm>
            <a:off x="457200" y="329184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Week 4–8</a:t>
            </a:r>
            <a:endParaRPr lang="en-US" sz="1200" dirty="0"/>
          </a:p>
        </p:txBody>
      </p:sp>
      <p:sp>
        <p:nvSpPr>
          <p:cNvPr id="26" name="Shape 24"/>
          <p:cNvSpPr/>
          <p:nvPr/>
        </p:nvSpPr>
        <p:spPr>
          <a:xfrm>
            <a:off x="1691640" y="3291840"/>
            <a:ext cx="6995160" cy="365760"/>
          </a:xfrm>
          <a:prstGeom prst="roundRect">
            <a:avLst>
              <a:gd name="adj" fmla="val 20000"/>
            </a:avLst>
          </a:prstGeom>
          <a:solidFill>
            <a:schemeClr val="bg2"/>
          </a:solidFill>
          <a:ln w="12700">
            <a:solidFill>
              <a:schemeClr val="bg2"/>
            </a:solidFill>
            <a:prstDash val="solid"/>
          </a:ln>
        </p:spPr>
      </p:sp>
      <p:sp>
        <p:nvSpPr>
          <p:cNvPr id="27" name="Text 25"/>
          <p:cNvSpPr txBox="1"/>
          <p:nvPr/>
        </p:nvSpPr>
        <p:spPr>
          <a:xfrm>
            <a:off x="1828800" y="3291840"/>
            <a:ext cx="3931920" cy="365760"/>
          </a:xfrm>
          <a:prstGeom prst="rect">
            <a:avLst/>
          </a:prstGeom>
          <a:noFill/>
          <a:ln/>
        </p:spPr>
        <p:txBody>
          <a:bodyPr wrap="square" lIns="0" tIns="0" rIns="0" bIns="0" rtlCol="0" anchor="ctr"/>
          <a:lstStyle/>
          <a:p>
            <a:pPr indent="0" marL="0">
              <a:buNone/>
            </a:pPr>
            <a:r>
              <a:rPr lang="en-US" sz="1300" dirty="0">
                <a:solidFill>
                  <a:schemeClr val="tx1"/>
                </a:solidFill>
              </a:rPr>
              <a:t>Instagram actief laten groeien</a:t>
            </a:r>
            <a:endParaRPr lang="en-US" sz="1300" dirty="0"/>
          </a:p>
        </p:txBody>
      </p:sp>
      <p:sp>
        <p:nvSpPr>
          <p:cNvPr id="28" name="Text 26"/>
          <p:cNvSpPr txBox="1"/>
          <p:nvPr/>
        </p:nvSpPr>
        <p:spPr>
          <a:xfrm>
            <a:off x="5852160" y="3291840"/>
            <a:ext cx="2743200" cy="365760"/>
          </a:xfrm>
          <a:prstGeom prst="rect">
            <a:avLst/>
          </a:prstGeom>
          <a:noFill/>
          <a:ln/>
        </p:spPr>
        <p:txBody>
          <a:bodyPr wrap="square" lIns="0" tIns="0" rIns="0" bIns="0" rtlCol="0" anchor="ctr"/>
          <a:lstStyle/>
          <a:p>
            <a:pPr indent="0" marL="0">
              <a:buNone/>
            </a:pPr>
            <a:r>
              <a:rPr lang="en-US" sz="1200" i="1" dirty="0">
                <a:solidFill>
                  <a:schemeClr val="accent4"/>
                </a:solidFill>
              </a:rPr>
              <a:t>Volgers verhogen</a:t>
            </a:r>
            <a:endParaRPr lang="en-US" sz="1200" dirty="0"/>
          </a:p>
        </p:txBody>
      </p:sp>
      <p:sp>
        <p:nvSpPr>
          <p:cNvPr id="29" name="Shape 27"/>
          <p:cNvSpPr/>
          <p:nvPr/>
        </p:nvSpPr>
        <p:spPr>
          <a:xfrm>
            <a:off x="457200" y="3749040"/>
            <a:ext cx="1097280" cy="365760"/>
          </a:xfrm>
          <a:prstGeom prst="roundRect">
            <a:avLst>
              <a:gd name="adj" fmla="val 20000"/>
            </a:avLst>
          </a:prstGeom>
          <a:solidFill>
            <a:schemeClr val="accent1"/>
          </a:solidFill>
          <a:ln w="12700">
            <a:solidFill>
              <a:schemeClr val="accent1"/>
            </a:solidFill>
            <a:prstDash val="solid"/>
          </a:ln>
        </p:spPr>
      </p:sp>
      <p:sp>
        <p:nvSpPr>
          <p:cNvPr id="30" name="Text 28"/>
          <p:cNvSpPr txBox="1"/>
          <p:nvPr/>
        </p:nvSpPr>
        <p:spPr>
          <a:xfrm>
            <a:off x="457200" y="374904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Week 5</a:t>
            </a:r>
            <a:endParaRPr lang="en-US" sz="1200" dirty="0"/>
          </a:p>
        </p:txBody>
      </p:sp>
      <p:sp>
        <p:nvSpPr>
          <p:cNvPr id="31" name="Shape 29"/>
          <p:cNvSpPr/>
          <p:nvPr/>
        </p:nvSpPr>
        <p:spPr>
          <a:xfrm>
            <a:off x="1691640" y="3749040"/>
            <a:ext cx="6995160" cy="365760"/>
          </a:xfrm>
          <a:prstGeom prst="roundRect">
            <a:avLst>
              <a:gd name="adj" fmla="val 20000"/>
            </a:avLst>
          </a:prstGeom>
          <a:solidFill>
            <a:schemeClr val="bg2"/>
          </a:solidFill>
          <a:ln w="12700">
            <a:solidFill>
              <a:schemeClr val="bg2"/>
            </a:solidFill>
            <a:prstDash val="solid"/>
          </a:ln>
        </p:spPr>
      </p:sp>
      <p:sp>
        <p:nvSpPr>
          <p:cNvPr id="32" name="Text 30"/>
          <p:cNvSpPr txBox="1"/>
          <p:nvPr/>
        </p:nvSpPr>
        <p:spPr>
          <a:xfrm>
            <a:off x="1828800" y="3749040"/>
            <a:ext cx="3931920" cy="365760"/>
          </a:xfrm>
          <a:prstGeom prst="rect">
            <a:avLst/>
          </a:prstGeom>
          <a:noFill/>
          <a:ln/>
        </p:spPr>
        <p:txBody>
          <a:bodyPr wrap="square" lIns="0" tIns="0" rIns="0" bIns="0" rtlCol="0" anchor="ctr"/>
          <a:lstStyle/>
          <a:p>
            <a:pPr indent="0" marL="0">
              <a:buNone/>
            </a:pPr>
            <a:r>
              <a:rPr lang="en-US" sz="1300" dirty="0">
                <a:solidFill>
                  <a:schemeClr val="tx1"/>
                </a:solidFill>
              </a:rPr>
              <a:t>Afspraken met winkels</a:t>
            </a:r>
            <a:endParaRPr lang="en-US" sz="1300" dirty="0"/>
          </a:p>
        </p:txBody>
      </p:sp>
      <p:sp>
        <p:nvSpPr>
          <p:cNvPr id="33" name="Text 31"/>
          <p:cNvSpPr txBox="1"/>
          <p:nvPr/>
        </p:nvSpPr>
        <p:spPr>
          <a:xfrm>
            <a:off x="5852160" y="3749040"/>
            <a:ext cx="2743200" cy="365760"/>
          </a:xfrm>
          <a:prstGeom prst="rect">
            <a:avLst/>
          </a:prstGeom>
          <a:noFill/>
          <a:ln/>
        </p:spPr>
        <p:txBody>
          <a:bodyPr wrap="square" lIns="0" tIns="0" rIns="0" bIns="0" rtlCol="0" anchor="ctr"/>
          <a:lstStyle/>
          <a:p>
            <a:pPr indent="0" marL="0">
              <a:buNone/>
            </a:pPr>
            <a:r>
              <a:rPr lang="en-US" sz="1200" i="1" dirty="0">
                <a:solidFill>
                  <a:schemeClr val="accent4"/>
                </a:solidFill>
              </a:rPr>
              <a:t>Min. 2 winkels waar ik terecht kan</a:t>
            </a:r>
            <a:endParaRPr lang="en-US" sz="1200" dirty="0"/>
          </a:p>
        </p:txBody>
      </p:sp>
      <p:sp>
        <p:nvSpPr>
          <p:cNvPr id="34" name="Shape 32"/>
          <p:cNvSpPr/>
          <p:nvPr/>
        </p:nvSpPr>
        <p:spPr>
          <a:xfrm>
            <a:off x="457200" y="4206240"/>
            <a:ext cx="1097280" cy="365760"/>
          </a:xfrm>
          <a:prstGeom prst="roundRect">
            <a:avLst>
              <a:gd name="adj" fmla="val 20000"/>
            </a:avLst>
          </a:prstGeom>
          <a:solidFill>
            <a:schemeClr val="accent1"/>
          </a:solidFill>
          <a:ln w="12700">
            <a:solidFill>
              <a:schemeClr val="accent1"/>
            </a:solidFill>
            <a:prstDash val="solid"/>
          </a:ln>
        </p:spPr>
      </p:sp>
      <p:sp>
        <p:nvSpPr>
          <p:cNvPr id="35" name="Text 33"/>
          <p:cNvSpPr txBox="1"/>
          <p:nvPr/>
        </p:nvSpPr>
        <p:spPr>
          <a:xfrm>
            <a:off x="457200" y="4206240"/>
            <a:ext cx="1097280" cy="365760"/>
          </a:xfrm>
          <a:prstGeom prst="rect">
            <a:avLst/>
          </a:prstGeom>
          <a:noFill/>
          <a:ln/>
        </p:spPr>
        <p:txBody>
          <a:bodyPr wrap="square" lIns="0" tIns="0" rIns="0" bIns="0" rtlCol="0" anchor="ctr"/>
          <a:lstStyle/>
          <a:p>
            <a:pPr algn="ctr" indent="0" marL="0">
              <a:buNone/>
            </a:pPr>
            <a:r>
              <a:rPr lang="en-US" sz="1200" b="1" dirty="0">
                <a:solidFill>
                  <a:schemeClr val="bg1"/>
                </a:solidFill>
              </a:rPr>
              <a:t>Week 6–8</a:t>
            </a:r>
            <a:endParaRPr lang="en-US" sz="1200" dirty="0"/>
          </a:p>
        </p:txBody>
      </p:sp>
      <p:sp>
        <p:nvSpPr>
          <p:cNvPr id="36" name="Shape 34"/>
          <p:cNvSpPr/>
          <p:nvPr/>
        </p:nvSpPr>
        <p:spPr>
          <a:xfrm>
            <a:off x="1691640" y="4206240"/>
            <a:ext cx="6995160" cy="365760"/>
          </a:xfrm>
          <a:prstGeom prst="roundRect">
            <a:avLst>
              <a:gd name="adj" fmla="val 20000"/>
            </a:avLst>
          </a:prstGeom>
          <a:solidFill>
            <a:schemeClr val="bg2"/>
          </a:solidFill>
          <a:ln w="12700">
            <a:solidFill>
              <a:schemeClr val="bg2"/>
            </a:solidFill>
            <a:prstDash val="solid"/>
          </a:ln>
        </p:spPr>
      </p:sp>
      <p:sp>
        <p:nvSpPr>
          <p:cNvPr id="37" name="Text 35"/>
          <p:cNvSpPr txBox="1"/>
          <p:nvPr/>
        </p:nvSpPr>
        <p:spPr>
          <a:xfrm>
            <a:off x="1828800" y="4206240"/>
            <a:ext cx="3931920" cy="365760"/>
          </a:xfrm>
          <a:prstGeom prst="rect">
            <a:avLst/>
          </a:prstGeom>
          <a:noFill/>
          <a:ln/>
        </p:spPr>
        <p:txBody>
          <a:bodyPr wrap="square" lIns="0" tIns="0" rIns="0" bIns="0" rtlCol="0" anchor="ctr"/>
          <a:lstStyle/>
          <a:p>
            <a:pPr indent="0" marL="0">
              <a:buNone/>
            </a:pPr>
            <a:r>
              <a:rPr lang="en-US" sz="1300" dirty="0">
                <a:solidFill>
                  <a:schemeClr val="tx1"/>
                </a:solidFill>
              </a:rPr>
              <a:t>Eerste mogelijke klanten vastleggen</a:t>
            </a:r>
            <a:endParaRPr lang="en-US" sz="1300" dirty="0"/>
          </a:p>
        </p:txBody>
      </p:sp>
      <p:sp>
        <p:nvSpPr>
          <p:cNvPr id="38" name="Text 36"/>
          <p:cNvSpPr txBox="1"/>
          <p:nvPr/>
        </p:nvSpPr>
        <p:spPr>
          <a:xfrm>
            <a:off x="5852160" y="4206240"/>
            <a:ext cx="2743200" cy="365760"/>
          </a:xfrm>
          <a:prstGeom prst="rect">
            <a:avLst/>
          </a:prstGeom>
          <a:noFill/>
          <a:ln/>
        </p:spPr>
        <p:txBody>
          <a:bodyPr wrap="square" lIns="0" tIns="0" rIns="0" bIns="0" rtlCol="0" anchor="ctr"/>
          <a:lstStyle/>
          <a:p>
            <a:pPr indent="0" marL="0">
              <a:buNone/>
            </a:pPr>
            <a:r>
              <a:rPr lang="en-US" sz="1200" i="1" dirty="0">
                <a:solidFill>
                  <a:schemeClr val="accent4"/>
                </a:solidFill>
              </a:rPr>
              <a:t>Klantcontact laten zien</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Reflectie op Start-Up 1</a:t>
            </a:r>
            <a:endParaRPr lang="en-US" sz="2600" dirty="0"/>
          </a:p>
        </p:txBody>
      </p:sp>
      <p:sp>
        <p:nvSpPr>
          <p:cNvPr id="3" name="Shape 1"/>
          <p:cNvSpPr/>
          <p:nvPr/>
        </p:nvSpPr>
        <p:spPr>
          <a:xfrm>
            <a:off x="457200" y="1051560"/>
            <a:ext cx="2615184" cy="3566160"/>
          </a:xfrm>
          <a:prstGeom prst="roundRect">
            <a:avLst>
              <a:gd name="adj" fmla="val 2797"/>
            </a:avLst>
          </a:prstGeom>
          <a:solidFill>
            <a:schemeClr val="bg2"/>
          </a:solidFill>
          <a:ln w="12700">
            <a:solidFill>
              <a:schemeClr val="bg2"/>
            </a:solidFill>
            <a:prstDash val="solid"/>
          </a:ln>
        </p:spPr>
      </p:sp>
      <p:sp>
        <p:nvSpPr>
          <p:cNvPr id="4" name="Shape 2"/>
          <p:cNvSpPr/>
          <p:nvPr/>
        </p:nvSpPr>
        <p:spPr>
          <a:xfrm>
            <a:off x="640080" y="1234440"/>
            <a:ext cx="457200" cy="45720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758952" y="1353312"/>
            <a:ext cx="219456" cy="219456"/>
          </a:xfrm>
          <a:prstGeom prst="rect">
            <a:avLst/>
          </a:prstGeom>
        </p:spPr>
      </p:pic>
      <p:sp>
        <p:nvSpPr>
          <p:cNvPr id="6" name="Text 3"/>
          <p:cNvSpPr txBox="1"/>
          <p:nvPr/>
        </p:nvSpPr>
        <p:spPr>
          <a:xfrm>
            <a:off x="1234440" y="1280160"/>
            <a:ext cx="1737360" cy="365760"/>
          </a:xfrm>
          <a:prstGeom prst="rect">
            <a:avLst/>
          </a:prstGeom>
          <a:noFill/>
          <a:ln/>
        </p:spPr>
        <p:txBody>
          <a:bodyPr wrap="square" lIns="0" tIns="0" rIns="0" bIns="0" rtlCol="0" anchor="ctr"/>
          <a:lstStyle/>
          <a:p>
            <a:pPr indent="0" marL="0">
              <a:buNone/>
            </a:pPr>
            <a:r>
              <a:rPr lang="en-US" sz="1600" b="1" dirty="0">
                <a:solidFill>
                  <a:schemeClr val="tx1"/>
                </a:solidFill>
              </a:rPr>
              <a:t>Wat ging goed</a:t>
            </a:r>
            <a:endParaRPr lang="en-US" sz="1600" dirty="0"/>
          </a:p>
        </p:txBody>
      </p:sp>
      <p:sp>
        <p:nvSpPr>
          <p:cNvPr id="7" name="Text 4"/>
          <p:cNvSpPr txBox="1"/>
          <p:nvPr/>
        </p:nvSpPr>
        <p:spPr>
          <a:xfrm>
            <a:off x="640080"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Durven bijsturen naar een idee dat bij mij past</a:t>
            </a:r>
            <a:endParaRPr lang="en-US" sz="1300" dirty="0"/>
          </a:p>
          <a:p>
            <a:pPr marL="342900" indent="-342900">
              <a:spcAft>
                <a:spcPts val="800"/>
              </a:spcAft>
              <a:buSzPct val="100000"/>
              <a:buChar char="•"/>
            </a:pPr>
            <a:r>
              <a:rPr lang="en-US" sz="1300" dirty="0">
                <a:solidFill>
                  <a:schemeClr val="tx1"/>
                </a:solidFill>
              </a:rPr>
              <a:t>Feedback uit week 1 volledig verwerkt</a:t>
            </a:r>
            <a:endParaRPr lang="en-US" sz="1300" dirty="0"/>
          </a:p>
          <a:p>
            <a:pPr marL="342900" indent="-342900">
              <a:spcAft>
                <a:spcPts val="800"/>
              </a:spcAft>
              <a:buSzPct val="100000"/>
              <a:buChar char="•"/>
            </a:pPr>
            <a:r>
              <a:rPr lang="en-US" sz="1300" dirty="0">
                <a:solidFill>
                  <a:schemeClr val="tx1"/>
                </a:solidFill>
              </a:rPr>
              <a:t>10 interviews, transcripties en codering als bewijs</a:t>
            </a:r>
            <a:endParaRPr lang="en-US" sz="1300" dirty="0"/>
          </a:p>
        </p:txBody>
      </p:sp>
      <p:sp>
        <p:nvSpPr>
          <p:cNvPr id="8" name="Shape 5"/>
          <p:cNvSpPr/>
          <p:nvPr/>
        </p:nvSpPr>
        <p:spPr>
          <a:xfrm>
            <a:off x="3264408" y="1051560"/>
            <a:ext cx="2615184" cy="3566160"/>
          </a:xfrm>
          <a:prstGeom prst="roundRect">
            <a:avLst>
              <a:gd name="adj" fmla="val 2797"/>
            </a:avLst>
          </a:prstGeom>
          <a:solidFill>
            <a:schemeClr val="bg2"/>
          </a:solidFill>
          <a:ln w="12700">
            <a:solidFill>
              <a:schemeClr val="bg2"/>
            </a:solidFill>
            <a:prstDash val="solid"/>
          </a:ln>
        </p:spPr>
      </p:sp>
      <p:sp>
        <p:nvSpPr>
          <p:cNvPr id="9" name="Shape 6"/>
          <p:cNvSpPr/>
          <p:nvPr/>
        </p:nvSpPr>
        <p:spPr>
          <a:xfrm>
            <a:off x="3447288" y="123444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566160" y="1353312"/>
            <a:ext cx="219456" cy="219456"/>
          </a:xfrm>
          <a:prstGeom prst="rect">
            <a:avLst/>
          </a:prstGeom>
        </p:spPr>
      </p:pic>
      <p:sp>
        <p:nvSpPr>
          <p:cNvPr id="11" name="Text 7"/>
          <p:cNvSpPr txBox="1"/>
          <p:nvPr/>
        </p:nvSpPr>
        <p:spPr>
          <a:xfrm>
            <a:off x="4041648" y="1280160"/>
            <a:ext cx="1737360" cy="365760"/>
          </a:xfrm>
          <a:prstGeom prst="rect">
            <a:avLst/>
          </a:prstGeom>
          <a:noFill/>
          <a:ln/>
        </p:spPr>
        <p:txBody>
          <a:bodyPr wrap="square" lIns="0" tIns="0" rIns="0" bIns="0" rtlCol="0" anchor="ctr"/>
          <a:lstStyle/>
          <a:p>
            <a:pPr indent="0" marL="0">
              <a:buNone/>
            </a:pPr>
            <a:r>
              <a:rPr lang="en-US" sz="1600" b="1" dirty="0">
                <a:solidFill>
                  <a:schemeClr val="tx1"/>
                </a:solidFill>
              </a:rPr>
              <a:t>Wat kan beter</a:t>
            </a:r>
            <a:endParaRPr lang="en-US" sz="1600" dirty="0"/>
          </a:p>
        </p:txBody>
      </p:sp>
      <p:sp>
        <p:nvSpPr>
          <p:cNvPr id="12" name="Text 8"/>
          <p:cNvSpPr txBox="1"/>
          <p:nvPr/>
        </p:nvSpPr>
        <p:spPr>
          <a:xfrm>
            <a:off x="3447288"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Interviewgroep sloot niet helemaal aan op mijn eerste klant</a:t>
            </a:r>
            <a:endParaRPr lang="en-US" sz="1300" dirty="0"/>
          </a:p>
          <a:p>
            <a:pPr marL="342900" indent="-342900">
              <a:spcAft>
                <a:spcPts val="800"/>
              </a:spcAft>
              <a:buSzPct val="100000"/>
              <a:buChar char="•"/>
            </a:pPr>
            <a:r>
              <a:rPr lang="en-US" sz="1300" dirty="0">
                <a:solidFill>
                  <a:schemeClr val="tx1"/>
                </a:solidFill>
              </a:rPr>
              <a:t>Kosten, kanalen en inkomsten nog niet in het Lean Canvas</a:t>
            </a:r>
            <a:endParaRPr lang="en-US" sz="1300" dirty="0"/>
          </a:p>
          <a:p>
            <a:pPr marL="342900" indent="-342900">
              <a:spcAft>
                <a:spcPts val="800"/>
              </a:spcAft>
              <a:buSzPct val="100000"/>
              <a:buChar char="•"/>
            </a:pPr>
            <a:r>
              <a:rPr lang="en-US" sz="1300" dirty="0">
                <a:solidFill>
                  <a:schemeClr val="tx1"/>
                </a:solidFill>
              </a:rPr>
              <a:t>Zelf actiever om feedback vragen</a:t>
            </a:r>
            <a:endParaRPr lang="en-US" sz="1300" dirty="0"/>
          </a:p>
        </p:txBody>
      </p:sp>
      <p:sp>
        <p:nvSpPr>
          <p:cNvPr id="13" name="Shape 9"/>
          <p:cNvSpPr/>
          <p:nvPr/>
        </p:nvSpPr>
        <p:spPr>
          <a:xfrm>
            <a:off x="6071616" y="1051560"/>
            <a:ext cx="2615184" cy="3566160"/>
          </a:xfrm>
          <a:prstGeom prst="roundRect">
            <a:avLst>
              <a:gd name="adj" fmla="val 2797"/>
            </a:avLst>
          </a:prstGeom>
          <a:solidFill>
            <a:schemeClr val="bg2"/>
          </a:solidFill>
          <a:ln w="12700">
            <a:solidFill>
              <a:schemeClr val="bg2"/>
            </a:solidFill>
            <a:prstDash val="solid"/>
          </a:ln>
        </p:spPr>
      </p:sp>
      <p:sp>
        <p:nvSpPr>
          <p:cNvPr id="14" name="Shape 10"/>
          <p:cNvSpPr/>
          <p:nvPr/>
        </p:nvSpPr>
        <p:spPr>
          <a:xfrm>
            <a:off x="6254496" y="1234440"/>
            <a:ext cx="457200" cy="457200"/>
          </a:xfrm>
          <a:prstGeom prst="ellipse">
            <a:avLst/>
          </a:prstGeom>
          <a:solidFill>
            <a:schemeClr val="tx2"/>
          </a:solidFill>
          <a:ln w="12700">
            <a:solidFill>
              <a:schemeClr val="tx2"/>
            </a:solidFill>
            <a:prstDash val="solid"/>
          </a:ln>
        </p:spPr>
      </p:sp>
      <p:pic>
        <p:nvPicPr>
          <p:cNvPr id="15" name="Image 2" descr="preencoded.png">    </p:cNvPr>
          <p:cNvPicPr>
            <a:picLocks noChangeAspect="1"/>
          </p:cNvPicPr>
          <p:nvPr/>
        </p:nvPicPr>
        <p:blipFill>
          <a:blip r:embed="rId3"/>
          <a:stretch>
            <a:fillRect/>
          </a:stretch>
        </p:blipFill>
        <p:spPr>
          <a:xfrm>
            <a:off x="6373368" y="1353312"/>
            <a:ext cx="219456" cy="219456"/>
          </a:xfrm>
          <a:prstGeom prst="rect">
            <a:avLst/>
          </a:prstGeom>
        </p:spPr>
      </p:pic>
      <p:sp>
        <p:nvSpPr>
          <p:cNvPr id="16" name="Text 11"/>
          <p:cNvSpPr txBox="1"/>
          <p:nvPr/>
        </p:nvSpPr>
        <p:spPr>
          <a:xfrm>
            <a:off x="6848856" y="1280160"/>
            <a:ext cx="1737360" cy="365760"/>
          </a:xfrm>
          <a:prstGeom prst="rect">
            <a:avLst/>
          </a:prstGeom>
          <a:noFill/>
          <a:ln/>
        </p:spPr>
        <p:txBody>
          <a:bodyPr wrap="square" lIns="0" tIns="0" rIns="0" bIns="0" rtlCol="0" anchor="ctr"/>
          <a:lstStyle/>
          <a:p>
            <a:pPr indent="0" marL="0">
              <a:buNone/>
            </a:pPr>
            <a:r>
              <a:rPr lang="en-US" sz="1600" b="1" dirty="0">
                <a:solidFill>
                  <a:schemeClr val="tx1"/>
                </a:solidFill>
              </a:rPr>
              <a:t>Wat neem ik mee</a:t>
            </a:r>
            <a:endParaRPr lang="en-US" sz="1600" dirty="0"/>
          </a:p>
        </p:txBody>
      </p:sp>
      <p:sp>
        <p:nvSpPr>
          <p:cNvPr id="17" name="Text 12"/>
          <p:cNvSpPr txBox="1"/>
          <p:nvPr/>
        </p:nvSpPr>
        <p:spPr>
          <a:xfrm>
            <a:off x="6254496" y="1874520"/>
            <a:ext cx="2286000" cy="26517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Interviewen bij drukke werkende mannen</a:t>
            </a:r>
            <a:endParaRPr lang="en-US" sz="1300" dirty="0"/>
          </a:p>
          <a:p>
            <a:pPr marL="342900" indent="-342900">
              <a:spcAft>
                <a:spcPts val="800"/>
              </a:spcAft>
              <a:buSzPct val="100000"/>
              <a:buChar char="•"/>
            </a:pPr>
            <a:r>
              <a:rPr lang="en-US" sz="1300" dirty="0">
                <a:solidFill>
                  <a:schemeClr val="tx1"/>
                </a:solidFill>
              </a:rPr>
              <a:t>Prijs testen met proefklanten</a:t>
            </a:r>
            <a:endParaRPr lang="en-US" sz="1300" dirty="0"/>
          </a:p>
          <a:p>
            <a:pPr marL="342900" indent="-342900">
              <a:spcAft>
                <a:spcPts val="800"/>
              </a:spcAft>
              <a:buSzPct val="100000"/>
              <a:buChar char="•"/>
            </a:pPr>
            <a:r>
              <a:rPr lang="en-US" sz="1300" dirty="0">
                <a:solidFill>
                  <a:schemeClr val="tx1"/>
                </a:solidFill>
              </a:rPr>
              <a:t>AI alleen als hulpmiddel: alles zelf gecontroleerd en vermeld</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Vragen?</a:t>
            </a:r>
            <a:endParaRPr lang="en-US" sz="4000" dirty="0"/>
          </a:p>
        </p:txBody>
      </p:sp>
      <p:sp>
        <p:nvSpPr>
          <p:cNvPr id="3" name="Text 0"/>
          <p:cNvSpPr/>
          <p:nvPr>
            <p:ph idx="101" type="body" hasCustomPrompt="1"/>
          </p:nvPr>
        </p:nvSpPr>
        <p:spPr>
          <a:xfrm>
            <a:off x="548640" y="2697480"/>
            <a:ext cx="8046720" cy="914400"/>
          </a:xfrm>
          <a:prstGeom prst="rect">
            <a:avLst/>
          </a:prstGeom>
          <a:noFill/>
          <a:ln/>
        </p:spPr>
        <p:txBody>
          <a:bodyPr wrap="square" lIns="0" tIns="0" rIns="0" bIns="0" rtlCol="0" anchor="t"/>
          <a:lstStyle/>
          <a:p>
            <a:pPr algn="l" indent="0" marL="0">
              <a:buNone/>
            </a:pPr>
            <a:r>
              <a:rPr lang="en-US" sz="1800" i="1" dirty="0">
                <a:solidFill>
                  <a:schemeClr val="accent5"/>
                </a:solidFill>
              </a:rPr>
              <a:t>Double F Personal Shopping: jouw stijl, zonder de moeite.</a:t>
            </a:r>
            <a:endParaRPr lang="en-US" sz="1800" dirty="0"/>
          </a:p>
        </p:txBody>
      </p:sp>
      <p:sp>
        <p:nvSpPr>
          <p:cNvPr id="4" name="Shape 2"/>
          <p:cNvSpPr/>
          <p:nvPr/>
        </p:nvSpPr>
        <p:spPr>
          <a:xfrm>
            <a:off x="548640" y="548640"/>
            <a:ext cx="640080" cy="64008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15061" y="715061"/>
            <a:ext cx="307238" cy="307238"/>
          </a:xfrm>
          <a:prstGeom prst="rect">
            <a:avLst/>
          </a:prstGeom>
        </p:spPr>
      </p:pic>
      <p:sp>
        <p:nvSpPr>
          <p:cNvPr id="6" name="Text 3"/>
          <p:cNvSpPr txBox="1"/>
          <p:nvPr/>
        </p:nvSpPr>
        <p:spPr>
          <a:xfrm>
            <a:off x="548640" y="4114800"/>
            <a:ext cx="8046720" cy="548640"/>
          </a:xfrm>
          <a:prstGeom prst="rect">
            <a:avLst/>
          </a:prstGeom>
          <a:noFill/>
          <a:ln/>
        </p:spPr>
        <p:txBody>
          <a:bodyPr wrap="square" lIns="0" tIns="0" rIns="0" bIns="0" rtlCol="0" anchor="t"/>
          <a:lstStyle/>
          <a:p>
            <a:pPr indent="0" marL="0">
              <a:buNone/>
            </a:pPr>
            <a:r>
              <a:rPr lang="en-US" sz="1200" dirty="0">
                <a:solidFill>
                  <a:schemeClr val="bg1"/>
                </a:solidFill>
              </a:rPr>
              <a:t>Bewijslast in het logboek: interviewscript, transcripties, codering (bijlage 1), DESTEP two-pager en KVK-naamcheck (bijlage 2).</a:t>
            </a:r>
            <a:endParaRPr lang="en-US" sz="1200" dirty="0"/>
          </a:p>
        </p:txBody>
      </p:sp>
    </p:spTree>
  </p:cSld>
  <p:clrMapOvr>
    <a:masterClrMapping/>
  </p:clrMapOvr>
</p:sld>
</file>

<file path=ppt/theme/theme1.xml><?xml version="1.0" encoding="utf-8"?>
<a:theme xmlns:a="http://schemas.openxmlformats.org/drawingml/2006/main" name="Double F">
  <a:themeElements>
    <a:clrScheme name="Double F">
      <a:dk1>
        <a:srgbClr val="1C2833"/>
      </a:dk1>
      <a:lt1>
        <a:srgbClr val="FFFFFF"/>
      </a:lt1>
      <a:dk2>
        <a:srgbClr val="3C4A5C"/>
      </a:dk2>
      <a:lt2>
        <a:srgbClr val="EEF1F4"/>
      </a:lt2>
      <a:accent1>
        <a:srgbClr val="B07D4F"/>
      </a:accent1>
      <a:accent2>
        <a:srgbClr val="3E7D5A"/>
      </a:accent2>
      <a:accent3>
        <a:srgbClr val="A94438"/>
      </a:accent3>
      <a:accent4>
        <a:srgbClr val="5D6D7E"/>
      </a:accent4>
      <a:accent5>
        <a:srgbClr val="E9DCCD"/>
      </a:accent5>
      <a:accent6>
        <a:srgbClr val="7A8B9C"/>
      </a:accent6>
      <a:hlink>
        <a:srgbClr val="B07D4F"/>
      </a:hlink>
      <a:folHlink>
        <a:srgbClr val="5D6D7E"/>
      </a:folHlink>
    </a:clrScheme>
    <a:fontScheme name="Double 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Double F Personal Shopping – CGI Start-Up 1</dc:title>
  <dc:subject>PptxGenJS Presentation</dc:subject>
  <dc:creator>Coen Kerkhoff</dc:creator>
  <cp:lastModifiedBy>Coen Kerkhoff</cp:lastModifiedBy>
  <cp:revision>1</cp:revision>
  <dcterms:created xsi:type="dcterms:W3CDTF">2026-10-26T12:03:29Z</dcterms:created>
  <dcterms:modified xsi:type="dcterms:W3CDTF">2026-10-26T12:03:29Z</dcterms:modified>
</cp:coreProperties>
</file>